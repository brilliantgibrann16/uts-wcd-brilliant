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type="screen16x9"/>
  <p:notesSz cx="6858000" cy="9144000"/>
  <p:defaultTextStyle>
    <a:defPPr>
      <a:defRPr lang="en-US"/>
    </a:defPPr>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0E0B"/>
          </a:solidFill>
          <a:ln>
            <a:noFill/>
          </a:ln>
        </p:spPr>
        <p:txBody>
          <a:bodyPr/>
          <a:lstStyle/>
          <a:p/>
        </p:txBody>
      </p:sp>
      <p:sp>
        <p:nvSpPr>
          <p:cNvPr id="3" name="Shape 3"/>
          <p:cNvSpPr/>
          <p:nvPr/>
        </p:nvSpPr>
        <p:spPr>
          <a:xfrm>
            <a:off x="8549640" y="-228600"/>
            <a:ext cx="3291840" cy="2377440"/>
          </a:xfrm>
          <a:prstGeom prst="ellipse">
            <a:avLst/>
          </a:prstGeom>
          <a:solidFill>
            <a:srgbClr val="162018"/>
          </a:solidFill>
          <a:ln>
            <a:noFill/>
          </a:ln>
        </p:spPr>
        <p:txBody>
          <a:bodyPr/>
          <a:lstStyle/>
          <a:p/>
        </p:txBody>
      </p:sp>
      <p:sp>
        <p:nvSpPr>
          <p:cNvPr id="4" name="Shape 4"/>
          <p:cNvSpPr/>
          <p:nvPr/>
        </p:nvSpPr>
        <p:spPr>
          <a:xfrm>
            <a:off x="-594360" y="4663440"/>
            <a:ext cx="2926080" cy="2011680"/>
          </a:xfrm>
          <a:prstGeom prst="ellipse">
            <a:avLst/>
          </a:prstGeom>
          <a:solidFill>
            <a:srgbClr val="1B2416"/>
          </a:solidFill>
          <a:ln>
            <a:noFill/>
          </a:ln>
        </p:spPr>
        <p:txBody>
          <a:bodyPr/>
          <a:lstStyle/>
          <a:p/>
        </p:txBody>
      </p:sp>
      <p:sp>
        <p:nvSpPr>
          <p:cNvPr id="5" name="Shape 5"/>
          <p:cNvSpPr/>
          <p:nvPr/>
        </p:nvSpPr>
        <p:spPr>
          <a:xfrm>
            <a:off x="658368" y="530352"/>
            <a:ext cx="530352" cy="530352"/>
          </a:xfrm>
          <a:prstGeom prst="ellipse">
            <a:avLst/>
          </a:prstGeom>
          <a:solidFill>
            <a:srgbClr val="C7F15D"/>
          </a:solidFill>
          <a:ln>
            <a:noFill/>
          </a:ln>
        </p:spPr>
        <p:txBody>
          <a:bodyPr/>
          <a:lstStyle/>
          <a:p/>
        </p:txBody>
      </p:sp>
      <p:sp>
        <p:nvSpPr>
          <p:cNvPr id="6" name="TextBox 6"/>
          <p:cNvSpPr txBox="1"/>
          <p:nvPr/>
        </p:nvSpPr>
        <p:spPr>
          <a:xfrm>
            <a:off x="813816" y="649224"/>
            <a:ext cx="237744" cy="237744"/>
          </a:xfrm>
          <a:prstGeom prst="rect">
            <a:avLst/>
          </a:prstGeom>
          <a:noFill/>
          <a:ln>
            <a:noFill/>
          </a:ln>
        </p:spPr>
        <p:txBody>
          <a:bodyPr lIns="0" rIns="0" tIns="0" bIns="0" wrap="square"/>
          <a:lstStyle/>
          <a:p>
            <a:pPr algn="ctr" lvl="0">
              <a:buNone/>
            </a:pPr>
            <a:r>
              <a:rPr lang="en-US" sz="1300" b="1">
                <a:solidFill>
                  <a:srgbClr val="10120C"/>
                </a:solidFill>
                <a:latin typeface="Aptos"/>
              </a:rPr>
              <a:t>B</a:t>
            </a:r>
          </a:p>
        </p:txBody>
      </p:sp>
      <p:sp>
        <p:nvSpPr>
          <p:cNvPr id="7" name="Shape 7"/>
          <p:cNvSpPr/>
          <p:nvPr/>
        </p:nvSpPr>
        <p:spPr>
          <a:xfrm>
            <a:off x="713232" y="1261872"/>
            <a:ext cx="2514600" cy="347472"/>
          </a:xfrm>
          <a:prstGeom prst="roundRect">
            <a:avLst/>
          </a:prstGeom>
          <a:solidFill>
            <a:srgbClr val="C7F15D"/>
          </a:solidFill>
          <a:ln>
            <a:noFill/>
          </a:ln>
        </p:spPr>
        <p:txBody>
          <a:bodyPr/>
          <a:lstStyle/>
          <a:p/>
        </p:txBody>
      </p:sp>
      <p:sp>
        <p:nvSpPr>
          <p:cNvPr id="8" name="TextBox 8"/>
          <p:cNvSpPr txBox="1"/>
          <p:nvPr/>
        </p:nvSpPr>
        <p:spPr>
          <a:xfrm>
            <a:off x="713232" y="1312164"/>
            <a:ext cx="2514600" cy="228600"/>
          </a:xfrm>
          <a:prstGeom prst="rect">
            <a:avLst/>
          </a:prstGeom>
          <a:noFill/>
          <a:ln>
            <a:noFill/>
          </a:ln>
        </p:spPr>
        <p:txBody>
          <a:bodyPr lIns="0" rIns="0" tIns="0" bIns="0" wrap="square"/>
          <a:lstStyle/>
          <a:p>
            <a:pPr algn="ctr" lvl="0">
              <a:buNone/>
            </a:pPr>
            <a:r>
              <a:rPr lang="en-US" sz="1000" b="1">
                <a:solidFill>
                  <a:srgbClr val="10120C"/>
                </a:solidFill>
                <a:latin typeface="Aptos"/>
              </a:rPr>
              <a:t>UAS RELEASE DOCUMENTATION</a:t>
            </a:r>
          </a:p>
        </p:txBody>
      </p:sp>
      <p:sp>
        <p:nvSpPr>
          <p:cNvPr id="9" name="TextBox 9"/>
          <p:cNvSpPr txBox="1"/>
          <p:nvPr/>
        </p:nvSpPr>
        <p:spPr>
          <a:xfrm>
            <a:off x="658368" y="1755648"/>
            <a:ext cx="7406640" cy="1737360"/>
          </a:xfrm>
          <a:prstGeom prst="rect">
            <a:avLst/>
          </a:prstGeom>
          <a:noFill/>
          <a:ln>
            <a:noFill/>
          </a:ln>
        </p:spPr>
        <p:txBody>
          <a:bodyPr lIns="0" rIns="0" tIns="0" bIns="0" wrap="square"/>
          <a:lstStyle/>
          <a:p>
            <a:pPr algn="l" lvl="0">
              <a:buNone/>
            </a:pPr>
            <a:r>
              <a:rPr lang="en-US" sz="4700" b="1">
                <a:solidFill>
                  <a:srgbClr val="F4EAD6"/>
                </a:solidFill>
                <a:latin typeface="Georgia"/>
              </a:rPr>
              <a:t>Brilliant's Music Universe</a:t>
            </a:r>
          </a:p>
        </p:txBody>
      </p:sp>
      <p:sp>
        <p:nvSpPr>
          <p:cNvPr id="10" name="TextBox 10"/>
          <p:cNvSpPr txBox="1"/>
          <p:nvPr/>
        </p:nvSpPr>
        <p:spPr>
          <a:xfrm>
            <a:off x="704088" y="3429000"/>
            <a:ext cx="5669280" cy="475488"/>
          </a:xfrm>
          <a:prstGeom prst="rect">
            <a:avLst/>
          </a:prstGeom>
          <a:noFill/>
          <a:ln>
            <a:noFill/>
          </a:ln>
        </p:spPr>
        <p:txBody>
          <a:bodyPr lIns="0" rIns="0" tIns="0" bIns="0" wrap="square"/>
          <a:lstStyle/>
          <a:p>
            <a:pPr algn="l" lvl="0">
              <a:buNone/>
            </a:pPr>
            <a:r>
              <a:rPr lang="en-US" sz="1700">
                <a:solidFill>
                  <a:srgbClr val="D8CDB5"/>
                </a:solidFill>
                <a:latin typeface="Aptos"/>
              </a:rPr>
              <a:t>Premium personal music website with UAS custom playlist request form</a:t>
            </a:r>
          </a:p>
        </p:txBody>
      </p:sp>
      <p:sp>
        <p:nvSpPr>
          <p:cNvPr id="11" name="Shape 11"/>
          <p:cNvSpPr/>
          <p:nvPr/>
        </p:nvSpPr>
        <p:spPr>
          <a:xfrm>
            <a:off x="6903720" y="1207008"/>
            <a:ext cx="4297680" cy="3749039"/>
          </a:xfrm>
          <a:prstGeom prst="roundRect">
            <a:avLst/>
          </a:prstGeom>
          <a:solidFill>
            <a:srgbClr val="171912"/>
          </a:solidFill>
          <a:ln w="12700">
            <a:solidFill>
              <a:srgbClr val="3B3A2F"/>
            </a:solidFill>
          </a:ln>
        </p:spPr>
        <p:txBody>
          <a:bodyPr/>
          <a:lstStyle/>
          <a:p/>
        </p:txBody>
      </p:sp>
      <p:sp>
        <p:nvSpPr>
          <p:cNvPr id="12" name="Shape 12"/>
          <p:cNvSpPr/>
          <p:nvPr/>
        </p:nvSpPr>
        <p:spPr>
          <a:xfrm>
            <a:off x="7223760" y="1554480"/>
            <a:ext cx="3611880" cy="2148840"/>
          </a:xfrm>
          <a:prstGeom prst="roundRect">
            <a:avLst/>
          </a:prstGeom>
          <a:solidFill>
            <a:srgbClr val="2E4A31"/>
          </a:solidFill>
          <a:ln>
            <a:noFill/>
          </a:ln>
        </p:spPr>
        <p:txBody>
          <a:bodyPr/>
          <a:lstStyle/>
          <a:p/>
        </p:txBody>
      </p:sp>
      <p:sp>
        <p:nvSpPr>
          <p:cNvPr id="13" name="Shape 13"/>
          <p:cNvSpPr/>
          <p:nvPr/>
        </p:nvSpPr>
        <p:spPr>
          <a:xfrm>
            <a:off x="7479792" y="1810512"/>
            <a:ext cx="3090672" cy="1627632"/>
          </a:xfrm>
          <a:prstGeom prst="ellipse">
            <a:avLst/>
          </a:prstGeom>
          <a:noFill/>
          <a:ln w="12700">
            <a:solidFill>
              <a:srgbClr val="6E8A43"/>
            </a:solidFill>
          </a:ln>
        </p:spPr>
        <p:txBody>
          <a:bodyPr/>
          <a:lstStyle/>
          <a:p/>
        </p:txBody>
      </p:sp>
      <p:sp>
        <p:nvSpPr>
          <p:cNvPr id="14" name="TextBox 14"/>
          <p:cNvSpPr txBox="1"/>
          <p:nvPr/>
        </p:nvSpPr>
        <p:spPr>
          <a:xfrm>
            <a:off x="7452360" y="2898648"/>
            <a:ext cx="2560320" cy="502920"/>
          </a:xfrm>
          <a:prstGeom prst="rect">
            <a:avLst/>
          </a:prstGeom>
          <a:noFill/>
          <a:ln>
            <a:noFill/>
          </a:ln>
        </p:spPr>
        <p:txBody>
          <a:bodyPr lIns="0" rIns="0" tIns="0" bIns="0" wrap="square"/>
          <a:lstStyle/>
          <a:p>
            <a:pPr algn="l" lvl="0">
              <a:buNone/>
            </a:pPr>
            <a:r>
              <a:rPr lang="en-US" sz="2000" b="1">
                <a:solidFill>
                  <a:srgbClr val="F4EAD6"/>
                </a:solidFill>
                <a:latin typeface="Georgia"/>
              </a:rPr>
              <a:t>Late Night Coding</a:t>
            </a:r>
          </a:p>
        </p:txBody>
      </p:sp>
      <p:sp>
        <p:nvSpPr>
          <p:cNvPr id="15" name="Shape 15"/>
          <p:cNvSpPr/>
          <p:nvPr/>
        </p:nvSpPr>
        <p:spPr>
          <a:xfrm>
            <a:off x="7315200" y="4005072"/>
            <a:ext cx="3438144" cy="109728"/>
          </a:xfrm>
          <a:prstGeom prst="roundRect">
            <a:avLst/>
          </a:prstGeom>
          <a:solidFill>
            <a:srgbClr val="31372A"/>
          </a:solidFill>
          <a:ln>
            <a:noFill/>
          </a:ln>
        </p:spPr>
        <p:txBody>
          <a:bodyPr/>
          <a:lstStyle/>
          <a:p/>
        </p:txBody>
      </p:sp>
      <p:sp>
        <p:nvSpPr>
          <p:cNvPr id="16" name="Shape 16"/>
          <p:cNvSpPr/>
          <p:nvPr/>
        </p:nvSpPr>
        <p:spPr>
          <a:xfrm>
            <a:off x="7315200" y="4005072"/>
            <a:ext cx="2331720" cy="109728"/>
          </a:xfrm>
          <a:prstGeom prst="roundRect">
            <a:avLst/>
          </a:prstGeom>
          <a:solidFill>
            <a:srgbClr val="C7F15D"/>
          </a:solidFill>
          <a:ln>
            <a:noFill/>
          </a:ln>
        </p:spPr>
        <p:txBody>
          <a:bodyPr/>
          <a:lstStyle/>
          <a:p/>
        </p:txBody>
      </p:sp>
      <p:sp>
        <p:nvSpPr>
          <p:cNvPr id="17" name="TextBox 17"/>
          <p:cNvSpPr txBox="1"/>
          <p:nvPr/>
        </p:nvSpPr>
        <p:spPr>
          <a:xfrm>
            <a:off x="713232" y="4434840"/>
            <a:ext cx="5394960" cy="1325880"/>
          </a:xfrm>
          <a:prstGeom prst="rect">
            <a:avLst/>
          </a:prstGeom>
          <a:noFill/>
          <a:ln>
            <a:noFill/>
          </a:ln>
        </p:spPr>
        <p:txBody>
          <a:bodyPr lIns="0" rIns="0" tIns="0" bIns="0" wrap="square"/>
          <a:lstStyle/>
          <a:p>
            <a:pPr algn="l" lvl="0">
              <a:buNone/>
            </a:pPr>
            <a:r>
              <a:rPr lang="en-US" sz="1400">
                <a:solidFill>
                  <a:srgbClr val="D8CDB5"/>
                </a:solidFill>
                <a:latin typeface="Aptos"/>
              </a:rPr>
              <a:t>Course: Web Client Development</a:t>
            </a:r>
          </a:p>
          <a:p>
            <a:pPr algn="l" lvl="0">
              <a:buNone/>
            </a:pPr>
            <a:r>
              <a:rPr lang="en-US" sz="1400">
                <a:solidFill>
                  <a:srgbClr val="D8CDB5"/>
                </a:solidFill>
                <a:latin typeface="Aptos"/>
              </a:rPr>
              <a:t>Student Name: [Student Name]</a:t>
            </a:r>
          </a:p>
          <a:p>
            <a:pPr algn="l" lvl="0">
              <a:buNone/>
            </a:pPr>
            <a:r>
              <a:rPr lang="en-US" sz="1400">
                <a:solidFill>
                  <a:srgbClr val="D8CDB5"/>
                </a:solidFill>
                <a:latin typeface="Aptos"/>
              </a:rPr>
              <a:t>Student ID: [Student ID]</a:t>
            </a:r>
          </a:p>
          <a:p>
            <a:pPr algn="l" lvl="0">
              <a:buNone/>
            </a:pPr>
            <a:r>
              <a:rPr lang="en-US" sz="1400">
                <a:solidFill>
                  <a:srgbClr val="D8CDB5"/>
                </a:solidFill>
                <a:latin typeface="Aptos"/>
              </a:rPr>
              <a:t>University: [University]</a:t>
            </a:r>
          </a:p>
          <a:p>
            <a:pPr algn="l" lvl="0">
              <a:buNone/>
            </a:pPr>
            <a:r>
              <a:rPr lang="en-US" sz="1400">
                <a:solidFill>
                  <a:srgbClr val="D8CDB5"/>
                </a:solidFill>
                <a:latin typeface="Aptos"/>
              </a:rPr>
              <a:t>Semester: [Semester]</a:t>
            </a:r>
          </a:p>
        </p:txBody>
      </p:sp>
      <p:sp>
        <p:nvSpPr>
          <p:cNvPr id="18" name="TextBox 18"/>
          <p:cNvSpPr txBox="1"/>
          <p:nvPr/>
        </p:nvSpPr>
        <p:spPr>
          <a:xfrm>
            <a:off x="658368" y="6446520"/>
            <a:ext cx="5669280" cy="219456"/>
          </a:xfrm>
          <a:prstGeom prst="rect">
            <a:avLst/>
          </a:prstGeom>
          <a:noFill/>
          <a:ln>
            <a:noFill/>
          </a:ln>
        </p:spPr>
        <p:txBody>
          <a:bodyPr lIns="0" rIns="0" tIns="0" bIns="0" wrap="square"/>
          <a:lstStyle/>
          <a:p>
            <a:pPr algn="l" lvl="0">
              <a:buNone/>
            </a:pPr>
            <a:r>
              <a:rPr lang="en-US" sz="800">
                <a:solidFill>
                  <a:srgbClr val="9F9787"/>
                </a:solidFill>
                <a:latin typeface="Aptos"/>
              </a:rPr>
              <a:t>Brilliant's Music Universe - UAS Web Client Development</a:t>
            </a:r>
          </a:p>
        </p:txBody>
      </p:sp>
      <p:sp>
        <p:nvSpPr>
          <p:cNvPr id="19" name="TextBox 19"/>
          <p:cNvSpPr txBox="1"/>
          <p:nvPr/>
        </p:nvSpPr>
        <p:spPr>
          <a:xfrm>
            <a:off x="11201400" y="6446520"/>
            <a:ext cx="347472" cy="219456"/>
          </a:xfrm>
          <a:prstGeom prst="rect">
            <a:avLst/>
          </a:prstGeom>
          <a:noFill/>
          <a:ln>
            <a:noFill/>
          </a:ln>
        </p:spPr>
        <p:txBody>
          <a:bodyPr lIns="0" rIns="0" tIns="0" bIns="0" wrap="square"/>
          <a:lstStyle/>
          <a:p>
            <a:pPr algn="r" lvl="0">
              <a:buNone/>
            </a:pPr>
            <a:r>
              <a:rPr lang="en-US" sz="800">
                <a:solidFill>
                  <a:srgbClr val="9F9787"/>
                </a:solidFill>
                <a:latin typeface="Apto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hape 32"/>
          <p:cNvSpPr/>
          <p:nvPr/>
        </p:nvSpPr>
        <p:spPr>
          <a:xfrm>
            <a:off x="0" y="0"/>
            <a:ext cx="12192000" cy="6858000"/>
          </a:xfrm>
          <a:prstGeom prst="rect">
            <a:avLst/>
          </a:prstGeom>
          <a:solidFill>
            <a:srgbClr val="0D0E0B"/>
          </a:solidFill>
          <a:ln>
            <a:noFill/>
          </a:ln>
        </p:spPr>
        <p:txBody>
          <a:bodyPr/>
          <a:lstStyle/>
          <a:p/>
        </p:txBody>
      </p:sp>
      <p:sp>
        <p:nvSpPr>
          <p:cNvPr id="33" name="Shape 33"/>
          <p:cNvSpPr/>
          <p:nvPr/>
        </p:nvSpPr>
        <p:spPr>
          <a:xfrm>
            <a:off x="8549640" y="-228600"/>
            <a:ext cx="3291840" cy="2377440"/>
          </a:xfrm>
          <a:prstGeom prst="ellipse">
            <a:avLst/>
          </a:prstGeom>
          <a:solidFill>
            <a:srgbClr val="162018"/>
          </a:solidFill>
          <a:ln>
            <a:noFill/>
          </a:ln>
        </p:spPr>
        <p:txBody>
          <a:bodyPr/>
          <a:lstStyle/>
          <a:p/>
        </p:txBody>
      </p:sp>
      <p:sp>
        <p:nvSpPr>
          <p:cNvPr id="34" name="Shape 34"/>
          <p:cNvSpPr/>
          <p:nvPr/>
        </p:nvSpPr>
        <p:spPr>
          <a:xfrm>
            <a:off x="-594360" y="4663440"/>
            <a:ext cx="2926080" cy="2011680"/>
          </a:xfrm>
          <a:prstGeom prst="ellipse">
            <a:avLst/>
          </a:prstGeom>
          <a:solidFill>
            <a:srgbClr val="1B2416"/>
          </a:solidFill>
          <a:ln>
            <a:noFill/>
          </a:ln>
        </p:spPr>
        <p:txBody>
          <a:bodyPr/>
          <a:lstStyle/>
          <a:p/>
        </p:txBody>
      </p:sp>
      <p:sp>
        <p:nvSpPr>
          <p:cNvPr id="35" name="Shape 35"/>
          <p:cNvSpPr/>
          <p:nvPr/>
        </p:nvSpPr>
        <p:spPr>
          <a:xfrm>
            <a:off x="658368" y="530352"/>
            <a:ext cx="530352" cy="530352"/>
          </a:xfrm>
          <a:prstGeom prst="ellipse">
            <a:avLst/>
          </a:prstGeom>
          <a:solidFill>
            <a:srgbClr val="C7F15D"/>
          </a:solidFill>
          <a:ln>
            <a:noFill/>
          </a:ln>
        </p:spPr>
        <p:txBody>
          <a:bodyPr/>
          <a:lstStyle/>
          <a:p/>
        </p:txBody>
      </p:sp>
      <p:sp>
        <p:nvSpPr>
          <p:cNvPr id="36" name="TextBox 36"/>
          <p:cNvSpPr txBox="1"/>
          <p:nvPr/>
        </p:nvSpPr>
        <p:spPr>
          <a:xfrm>
            <a:off x="813816" y="649224"/>
            <a:ext cx="237744" cy="237744"/>
          </a:xfrm>
          <a:prstGeom prst="rect">
            <a:avLst/>
          </a:prstGeom>
          <a:noFill/>
          <a:ln>
            <a:noFill/>
          </a:ln>
        </p:spPr>
        <p:txBody>
          <a:bodyPr lIns="0" rIns="0" tIns="0" bIns="0" wrap="square"/>
          <a:lstStyle/>
          <a:p>
            <a:pPr algn="ctr" lvl="0">
              <a:buNone/>
            </a:pPr>
            <a:r>
              <a:rPr lang="en-US" sz="1300" b="1">
                <a:solidFill>
                  <a:srgbClr val="10120C"/>
                </a:solidFill>
                <a:latin typeface="Aptos"/>
              </a:rPr>
              <a:t>B</a:t>
            </a:r>
          </a:p>
        </p:txBody>
      </p:sp>
      <p:sp>
        <p:nvSpPr>
          <p:cNvPr id="37" name="Shape 37"/>
          <p:cNvSpPr/>
          <p:nvPr/>
        </p:nvSpPr>
        <p:spPr>
          <a:xfrm>
            <a:off x="713232" y="896112"/>
            <a:ext cx="2331720" cy="347472"/>
          </a:xfrm>
          <a:prstGeom prst="roundRect">
            <a:avLst/>
          </a:prstGeom>
          <a:solidFill>
            <a:srgbClr val="C7F15D"/>
          </a:solidFill>
          <a:ln>
            <a:noFill/>
          </a:ln>
        </p:spPr>
        <p:txBody>
          <a:bodyPr/>
          <a:lstStyle/>
          <a:p/>
        </p:txBody>
      </p:sp>
      <p:sp>
        <p:nvSpPr>
          <p:cNvPr id="38" name="TextBox 38"/>
          <p:cNvSpPr txBox="1"/>
          <p:nvPr/>
        </p:nvSpPr>
        <p:spPr>
          <a:xfrm>
            <a:off x="713232" y="946404"/>
            <a:ext cx="2331720" cy="228600"/>
          </a:xfrm>
          <a:prstGeom prst="rect">
            <a:avLst/>
          </a:prstGeom>
          <a:noFill/>
          <a:ln>
            <a:noFill/>
          </a:ln>
        </p:spPr>
        <p:txBody>
          <a:bodyPr lIns="0" rIns="0" tIns="0" bIns="0" wrap="square"/>
          <a:lstStyle/>
          <a:p>
            <a:pPr algn="ctr" lvl="0">
              <a:buNone/>
            </a:pPr>
            <a:r>
              <a:rPr lang="en-US" sz="1000" b="1">
                <a:solidFill>
                  <a:srgbClr val="10120C"/>
                </a:solidFill>
                <a:latin typeface="Aptos"/>
              </a:rPr>
              <a:t>Project Overview</a:t>
            </a:r>
          </a:p>
        </p:txBody>
      </p:sp>
      <p:sp>
        <p:nvSpPr>
          <p:cNvPr id="39" name="TextBox 39"/>
          <p:cNvSpPr txBox="1"/>
          <p:nvPr/>
        </p:nvSpPr>
        <p:spPr>
          <a:xfrm>
            <a:off x="658368" y="1325880"/>
            <a:ext cx="7223760" cy="960120"/>
          </a:xfrm>
          <a:prstGeom prst="rect">
            <a:avLst/>
          </a:prstGeom>
          <a:noFill/>
          <a:ln>
            <a:noFill/>
          </a:ln>
        </p:spPr>
        <p:txBody>
          <a:bodyPr lIns="0" rIns="0" tIns="0" bIns="0" wrap="square"/>
          <a:lstStyle/>
          <a:p>
            <a:pPr algn="l" lvl="0">
              <a:buNone/>
            </a:pPr>
            <a:r>
              <a:rPr lang="en-US" sz="3100" b="1">
                <a:solidFill>
                  <a:srgbClr val="F4EAD6"/>
                </a:solidFill>
                <a:latin typeface="Georgia"/>
              </a:rPr>
              <a:t>Purpose, problem statement, and objectives.</a:t>
            </a:r>
          </a:p>
        </p:txBody>
      </p:sp>
      <p:sp>
        <p:nvSpPr>
          <p:cNvPr id="20" name="Shape 20"/>
          <p:cNvSpPr/>
          <p:nvPr/>
        </p:nvSpPr>
        <p:spPr>
          <a:xfrm>
            <a:off x="658368" y="2423160"/>
            <a:ext cx="3429000" cy="2423160"/>
          </a:xfrm>
          <a:prstGeom prst="roundRect">
            <a:avLst/>
          </a:prstGeom>
          <a:solidFill>
            <a:srgbClr val="171912"/>
          </a:solidFill>
          <a:ln w="12700">
            <a:solidFill>
              <a:srgbClr val="3B3A2F"/>
            </a:solidFill>
          </a:ln>
        </p:spPr>
        <p:txBody>
          <a:bodyPr/>
          <a:lstStyle/>
          <a:p/>
        </p:txBody>
      </p:sp>
      <p:sp>
        <p:nvSpPr>
          <p:cNvPr id="21" name="Shape 21"/>
          <p:cNvSpPr/>
          <p:nvPr/>
        </p:nvSpPr>
        <p:spPr>
          <a:xfrm>
            <a:off x="841248" y="2606040"/>
            <a:ext cx="109728" cy="109728"/>
          </a:xfrm>
          <a:prstGeom prst="ellipse">
            <a:avLst/>
          </a:prstGeom>
          <a:solidFill>
            <a:srgbClr val="C7F15D"/>
          </a:solidFill>
          <a:ln>
            <a:noFill/>
          </a:ln>
        </p:spPr>
        <p:txBody>
          <a:bodyPr/>
          <a:lstStyle/>
          <a:p/>
        </p:txBody>
      </p:sp>
      <p:sp>
        <p:nvSpPr>
          <p:cNvPr id="22" name="TextBox 22"/>
          <p:cNvSpPr txBox="1"/>
          <p:nvPr/>
        </p:nvSpPr>
        <p:spPr>
          <a:xfrm>
            <a:off x="1042416" y="2542032"/>
            <a:ext cx="2862072" cy="365760"/>
          </a:xfrm>
          <a:prstGeom prst="rect">
            <a:avLst/>
          </a:prstGeom>
          <a:noFill/>
          <a:ln>
            <a:noFill/>
          </a:ln>
        </p:spPr>
        <p:txBody>
          <a:bodyPr lIns="0" rIns="0" tIns="0" bIns="0" wrap="square"/>
          <a:lstStyle/>
          <a:p>
            <a:pPr algn="l" lvl="0">
              <a:buNone/>
            </a:pPr>
            <a:r>
              <a:rPr lang="en-US" sz="1500" b="1">
                <a:solidFill>
                  <a:srgbClr val="F4EAD6"/>
                </a:solidFill>
                <a:latin typeface="Aptos"/>
              </a:rPr>
              <a:t>Purpose</a:t>
            </a:r>
          </a:p>
        </p:txBody>
      </p:sp>
      <p:sp>
        <p:nvSpPr>
          <p:cNvPr id="23" name="TextBox 23"/>
          <p:cNvSpPr txBox="1"/>
          <p:nvPr/>
        </p:nvSpPr>
        <p:spPr>
          <a:xfrm>
            <a:off x="987552" y="3044952"/>
            <a:ext cx="2862072" cy="1600200"/>
          </a:xfrm>
          <a:prstGeom prst="rect">
            <a:avLst/>
          </a:prstGeom>
          <a:noFill/>
          <a:ln>
            <a:noFill/>
          </a:ln>
        </p:spPr>
        <p:txBody>
          <a:bodyPr lIns="0" rIns="0" tIns="0" bIns="0" wrap="square"/>
          <a:lstStyle/>
          <a:p>
            <a:pPr algn="l" lvl="0">
              <a:buChar char="-"/>
            </a:pPr>
            <a:r>
              <a:rPr lang="en-US" sz="1100">
                <a:solidFill>
                  <a:srgbClr val="D8CDB5"/>
                </a:solidFill>
                <a:latin typeface="Aptos"/>
              </a:rPr>
              <a:t>Build a personal music archive with playlists, library data, and listening stories.</a:t>
            </a:r>
          </a:p>
          <a:p>
            <a:pPr algn="l" lvl="0">
              <a:buChar char="-"/>
            </a:pPr>
            <a:r>
              <a:rPr lang="en-US" sz="1100">
                <a:solidFill>
                  <a:srgbClr val="D8CDB5"/>
                </a:solidFill>
                <a:latin typeface="Aptos"/>
              </a:rPr>
              <a:t>Present music taste through a polished, responsive, editorial-style interface.</a:t>
            </a:r>
          </a:p>
          <a:p>
            <a:pPr algn="l" lvl="0">
              <a:buChar char="-"/>
            </a:pPr>
            <a:r>
              <a:rPr lang="en-US" sz="1100">
                <a:solidFill>
                  <a:srgbClr val="D8CDB5"/>
                </a:solidFill>
                <a:latin typeface="Aptos"/>
              </a:rPr>
              <a:t>Extend the UTS website without rebuilding from zero.</a:t>
            </a:r>
          </a:p>
        </p:txBody>
      </p:sp>
      <p:sp>
        <p:nvSpPr>
          <p:cNvPr id="24" name="Shape 24"/>
          <p:cNvSpPr/>
          <p:nvPr/>
        </p:nvSpPr>
        <p:spPr>
          <a:xfrm>
            <a:off x="4407408" y="2423160"/>
            <a:ext cx="3429000" cy="2423160"/>
          </a:xfrm>
          <a:prstGeom prst="roundRect">
            <a:avLst/>
          </a:prstGeom>
          <a:solidFill>
            <a:srgbClr val="171912"/>
          </a:solidFill>
          <a:ln w="12700">
            <a:solidFill>
              <a:srgbClr val="3B3A2F"/>
            </a:solidFill>
          </a:ln>
        </p:spPr>
        <p:txBody>
          <a:bodyPr/>
          <a:lstStyle/>
          <a:p/>
        </p:txBody>
      </p:sp>
      <p:sp>
        <p:nvSpPr>
          <p:cNvPr id="25" name="Shape 25"/>
          <p:cNvSpPr/>
          <p:nvPr/>
        </p:nvSpPr>
        <p:spPr>
          <a:xfrm>
            <a:off x="4590288" y="2606040"/>
            <a:ext cx="109728" cy="109728"/>
          </a:xfrm>
          <a:prstGeom prst="ellipse">
            <a:avLst/>
          </a:prstGeom>
          <a:solidFill>
            <a:srgbClr val="E67D62"/>
          </a:solidFill>
          <a:ln>
            <a:noFill/>
          </a:ln>
        </p:spPr>
        <p:txBody>
          <a:bodyPr/>
          <a:lstStyle/>
          <a:p/>
        </p:txBody>
      </p:sp>
      <p:sp>
        <p:nvSpPr>
          <p:cNvPr id="26" name="TextBox 26"/>
          <p:cNvSpPr txBox="1"/>
          <p:nvPr/>
        </p:nvSpPr>
        <p:spPr>
          <a:xfrm>
            <a:off x="4791456" y="2542032"/>
            <a:ext cx="2862072" cy="365760"/>
          </a:xfrm>
          <a:prstGeom prst="rect">
            <a:avLst/>
          </a:prstGeom>
          <a:noFill/>
          <a:ln>
            <a:noFill/>
          </a:ln>
        </p:spPr>
        <p:txBody>
          <a:bodyPr lIns="0" rIns="0" tIns="0" bIns="0" wrap="square"/>
          <a:lstStyle/>
          <a:p>
            <a:pPr algn="l" lvl="0">
              <a:buNone/>
            </a:pPr>
            <a:r>
              <a:rPr lang="en-US" sz="1500" b="1">
                <a:solidFill>
                  <a:srgbClr val="F4EAD6"/>
                </a:solidFill>
                <a:latin typeface="Aptos"/>
              </a:rPr>
              <a:t>Problem Statement</a:t>
            </a:r>
          </a:p>
        </p:txBody>
      </p:sp>
      <p:sp>
        <p:nvSpPr>
          <p:cNvPr id="27" name="TextBox 27"/>
          <p:cNvSpPr txBox="1"/>
          <p:nvPr/>
        </p:nvSpPr>
        <p:spPr>
          <a:xfrm>
            <a:off x="4736592" y="3044952"/>
            <a:ext cx="2862072" cy="1600200"/>
          </a:xfrm>
          <a:prstGeom prst="rect">
            <a:avLst/>
          </a:prstGeom>
          <a:noFill/>
          <a:ln>
            <a:noFill/>
          </a:ln>
        </p:spPr>
        <p:txBody>
          <a:bodyPr lIns="0" rIns="0" tIns="0" bIns="0" wrap="square"/>
          <a:lstStyle/>
          <a:p>
            <a:pPr algn="l" lvl="0">
              <a:buChar char="-"/>
            </a:pPr>
            <a:r>
              <a:rPr lang="en-US" sz="1100">
                <a:solidFill>
                  <a:srgbClr val="D8CDB5"/>
                </a:solidFill>
                <a:latin typeface="Aptos"/>
              </a:rPr>
              <a:t>The UTS project needed one meaningful UAS feature, validation, and persistence.</a:t>
            </a:r>
          </a:p>
          <a:p>
            <a:pPr algn="l" lvl="0">
              <a:buChar char="-"/>
            </a:pPr>
            <a:r>
              <a:rPr lang="en-US" sz="1100">
                <a:solidFill>
                  <a:srgbClr val="D8CDB5"/>
                </a:solidFill>
                <a:latin typeface="Aptos"/>
              </a:rPr>
              <a:t>The interface needed stronger visual consistency and professional hierarchy.</a:t>
            </a:r>
          </a:p>
          <a:p>
            <a:pPr algn="l" lvl="0">
              <a:buChar char="-"/>
            </a:pPr>
            <a:r>
              <a:rPr lang="en-US" sz="1100">
                <a:solidFill>
                  <a:srgbClr val="D8CDB5"/>
                </a:solidFill>
                <a:latin typeface="Aptos"/>
              </a:rPr>
              <a:t>The product had to stay usable on desktop, tablet, and mobile.</a:t>
            </a:r>
          </a:p>
        </p:txBody>
      </p:sp>
      <p:sp>
        <p:nvSpPr>
          <p:cNvPr id="28" name="Shape 28"/>
          <p:cNvSpPr/>
          <p:nvPr/>
        </p:nvSpPr>
        <p:spPr>
          <a:xfrm>
            <a:off x="8156448" y="2423160"/>
            <a:ext cx="3429000" cy="2423160"/>
          </a:xfrm>
          <a:prstGeom prst="roundRect">
            <a:avLst/>
          </a:prstGeom>
          <a:solidFill>
            <a:srgbClr val="171912"/>
          </a:solidFill>
          <a:ln w="12700">
            <a:solidFill>
              <a:srgbClr val="3B3A2F"/>
            </a:solidFill>
          </a:ln>
        </p:spPr>
        <p:txBody>
          <a:bodyPr/>
          <a:lstStyle/>
          <a:p/>
        </p:txBody>
      </p:sp>
      <p:sp>
        <p:nvSpPr>
          <p:cNvPr id="29" name="Shape 29"/>
          <p:cNvSpPr/>
          <p:nvPr/>
        </p:nvSpPr>
        <p:spPr>
          <a:xfrm>
            <a:off x="8339328" y="2606040"/>
            <a:ext cx="109728" cy="109728"/>
          </a:xfrm>
          <a:prstGeom prst="ellipse">
            <a:avLst/>
          </a:prstGeom>
          <a:solidFill>
            <a:srgbClr val="7FC6B0"/>
          </a:solidFill>
          <a:ln>
            <a:noFill/>
          </a:ln>
        </p:spPr>
        <p:txBody>
          <a:bodyPr/>
          <a:lstStyle/>
          <a:p/>
        </p:txBody>
      </p:sp>
      <p:sp>
        <p:nvSpPr>
          <p:cNvPr id="30" name="TextBox 30"/>
          <p:cNvSpPr txBox="1"/>
          <p:nvPr/>
        </p:nvSpPr>
        <p:spPr>
          <a:xfrm>
            <a:off x="8540496" y="2542032"/>
            <a:ext cx="2862072" cy="365760"/>
          </a:xfrm>
          <a:prstGeom prst="rect">
            <a:avLst/>
          </a:prstGeom>
          <a:noFill/>
          <a:ln>
            <a:noFill/>
          </a:ln>
        </p:spPr>
        <p:txBody>
          <a:bodyPr lIns="0" rIns="0" tIns="0" bIns="0" wrap="square"/>
          <a:lstStyle/>
          <a:p>
            <a:pPr algn="l" lvl="0">
              <a:buNone/>
            </a:pPr>
            <a:r>
              <a:rPr lang="en-US" sz="1500" b="1">
                <a:solidFill>
                  <a:srgbClr val="F4EAD6"/>
                </a:solidFill>
                <a:latin typeface="Aptos"/>
              </a:rPr>
              <a:t>Objectives</a:t>
            </a:r>
          </a:p>
        </p:txBody>
      </p:sp>
      <p:sp>
        <p:nvSpPr>
          <p:cNvPr id="31" name="TextBox 31"/>
          <p:cNvSpPr txBox="1"/>
          <p:nvPr/>
        </p:nvSpPr>
        <p:spPr>
          <a:xfrm>
            <a:off x="8485632" y="3044952"/>
            <a:ext cx="2862072" cy="1600200"/>
          </a:xfrm>
          <a:prstGeom prst="rect">
            <a:avLst/>
          </a:prstGeom>
          <a:noFill/>
          <a:ln>
            <a:noFill/>
          </a:ln>
        </p:spPr>
        <p:txBody>
          <a:bodyPr lIns="0" rIns="0" tIns="0" bIns="0" wrap="square"/>
          <a:lstStyle/>
          <a:p>
            <a:pPr algn="l" lvl="0">
              <a:buChar char="-"/>
            </a:pPr>
            <a:r>
              <a:rPr lang="en-US" sz="1100">
                <a:solidFill>
                  <a:srgbClr val="D8CDB5"/>
                </a:solidFill>
                <a:latin typeface="Aptos"/>
              </a:rPr>
              <a:t>Add a form that matches the playlist theme.</a:t>
            </a:r>
          </a:p>
          <a:p>
            <a:pPr algn="l" lvl="0">
              <a:buChar char="-"/>
            </a:pPr>
            <a:r>
              <a:rPr lang="en-US" sz="1100">
                <a:solidFill>
                  <a:srgbClr val="D8CDB5"/>
                </a:solidFill>
                <a:latin typeface="Aptos"/>
              </a:rPr>
              <a:t>Save validated data to localStorage and restore it after refresh.</a:t>
            </a:r>
          </a:p>
          <a:p>
            <a:pPr algn="l" lvl="0">
              <a:buChar char="-"/>
            </a:pPr>
            <a:r>
              <a:rPr lang="en-US" sz="1100">
                <a:solidFill>
                  <a:srgbClr val="D8CDB5"/>
                </a:solidFill>
                <a:latin typeface="Aptos"/>
              </a:rPr>
              <a:t>Improve accessibility, navigation, modal behavior, and responsive polish.</a:t>
            </a:r>
          </a:p>
        </p:txBody>
      </p:sp>
      <p:sp>
        <p:nvSpPr>
          <p:cNvPr id="40" name="TextBox 40"/>
          <p:cNvSpPr txBox="1"/>
          <p:nvPr/>
        </p:nvSpPr>
        <p:spPr>
          <a:xfrm>
            <a:off x="658368" y="6446520"/>
            <a:ext cx="5669280" cy="219456"/>
          </a:xfrm>
          <a:prstGeom prst="rect">
            <a:avLst/>
          </a:prstGeom>
          <a:noFill/>
          <a:ln>
            <a:noFill/>
          </a:ln>
        </p:spPr>
        <p:txBody>
          <a:bodyPr lIns="0" rIns="0" tIns="0" bIns="0" wrap="square"/>
          <a:lstStyle/>
          <a:p>
            <a:pPr algn="l" lvl="0">
              <a:buNone/>
            </a:pPr>
            <a:r>
              <a:rPr lang="en-US" sz="800">
                <a:solidFill>
                  <a:srgbClr val="9F9787"/>
                </a:solidFill>
                <a:latin typeface="Aptos"/>
              </a:rPr>
              <a:t>Brilliant's Music Universe - UAS Web Client Development</a:t>
            </a:r>
          </a:p>
        </p:txBody>
      </p:sp>
      <p:sp>
        <p:nvSpPr>
          <p:cNvPr id="41" name="TextBox 41"/>
          <p:cNvSpPr txBox="1"/>
          <p:nvPr/>
        </p:nvSpPr>
        <p:spPr>
          <a:xfrm>
            <a:off x="11201400" y="6446520"/>
            <a:ext cx="347472" cy="219456"/>
          </a:xfrm>
          <a:prstGeom prst="rect">
            <a:avLst/>
          </a:prstGeom>
          <a:noFill/>
          <a:ln>
            <a:noFill/>
          </a:ln>
        </p:spPr>
        <p:txBody>
          <a:bodyPr lIns="0" rIns="0" tIns="0" bIns="0" wrap="square"/>
          <a:lstStyle/>
          <a:p>
            <a:pPr algn="r" lvl="0">
              <a:buNone/>
            </a:pPr>
            <a:r>
              <a:rPr lang="en-US" sz="800">
                <a:solidFill>
                  <a:srgbClr val="9F9787"/>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hape 58"/>
          <p:cNvSpPr/>
          <p:nvPr/>
        </p:nvSpPr>
        <p:spPr>
          <a:xfrm>
            <a:off x="0" y="0"/>
            <a:ext cx="12192000" cy="6858000"/>
          </a:xfrm>
          <a:prstGeom prst="rect">
            <a:avLst/>
          </a:prstGeom>
          <a:solidFill>
            <a:srgbClr val="0D0E0B"/>
          </a:solidFill>
          <a:ln>
            <a:noFill/>
          </a:ln>
        </p:spPr>
        <p:txBody>
          <a:bodyPr/>
          <a:lstStyle/>
          <a:p/>
        </p:txBody>
      </p:sp>
      <p:sp>
        <p:nvSpPr>
          <p:cNvPr id="59" name="Shape 59"/>
          <p:cNvSpPr/>
          <p:nvPr/>
        </p:nvSpPr>
        <p:spPr>
          <a:xfrm>
            <a:off x="8549640" y="-228600"/>
            <a:ext cx="3291840" cy="2377440"/>
          </a:xfrm>
          <a:prstGeom prst="ellipse">
            <a:avLst/>
          </a:prstGeom>
          <a:solidFill>
            <a:srgbClr val="162018"/>
          </a:solidFill>
          <a:ln>
            <a:noFill/>
          </a:ln>
        </p:spPr>
        <p:txBody>
          <a:bodyPr/>
          <a:lstStyle/>
          <a:p/>
        </p:txBody>
      </p:sp>
      <p:sp>
        <p:nvSpPr>
          <p:cNvPr id="60" name="Shape 60"/>
          <p:cNvSpPr/>
          <p:nvPr/>
        </p:nvSpPr>
        <p:spPr>
          <a:xfrm>
            <a:off x="-594360" y="4663440"/>
            <a:ext cx="2926080" cy="2011680"/>
          </a:xfrm>
          <a:prstGeom prst="ellipse">
            <a:avLst/>
          </a:prstGeom>
          <a:solidFill>
            <a:srgbClr val="1B2416"/>
          </a:solidFill>
          <a:ln>
            <a:noFill/>
          </a:ln>
        </p:spPr>
        <p:txBody>
          <a:bodyPr/>
          <a:lstStyle/>
          <a:p/>
        </p:txBody>
      </p:sp>
      <p:sp>
        <p:nvSpPr>
          <p:cNvPr id="61" name="Shape 61"/>
          <p:cNvSpPr/>
          <p:nvPr/>
        </p:nvSpPr>
        <p:spPr>
          <a:xfrm>
            <a:off x="658368" y="530352"/>
            <a:ext cx="530352" cy="530352"/>
          </a:xfrm>
          <a:prstGeom prst="ellipse">
            <a:avLst/>
          </a:prstGeom>
          <a:solidFill>
            <a:srgbClr val="C7F15D"/>
          </a:solidFill>
          <a:ln>
            <a:noFill/>
          </a:ln>
        </p:spPr>
        <p:txBody>
          <a:bodyPr/>
          <a:lstStyle/>
          <a:p/>
        </p:txBody>
      </p:sp>
      <p:sp>
        <p:nvSpPr>
          <p:cNvPr id="62" name="TextBox 62"/>
          <p:cNvSpPr txBox="1"/>
          <p:nvPr/>
        </p:nvSpPr>
        <p:spPr>
          <a:xfrm>
            <a:off x="813816" y="649224"/>
            <a:ext cx="237744" cy="237744"/>
          </a:xfrm>
          <a:prstGeom prst="rect">
            <a:avLst/>
          </a:prstGeom>
          <a:noFill/>
          <a:ln>
            <a:noFill/>
          </a:ln>
        </p:spPr>
        <p:txBody>
          <a:bodyPr lIns="0" rIns="0" tIns="0" bIns="0" wrap="square"/>
          <a:lstStyle/>
          <a:p>
            <a:pPr algn="ctr" lvl="0">
              <a:buNone/>
            </a:pPr>
            <a:r>
              <a:rPr lang="en-US" sz="1300" b="1">
                <a:solidFill>
                  <a:srgbClr val="10120C"/>
                </a:solidFill>
                <a:latin typeface="Aptos"/>
              </a:rPr>
              <a:t>B</a:t>
            </a:r>
          </a:p>
        </p:txBody>
      </p:sp>
      <p:sp>
        <p:nvSpPr>
          <p:cNvPr id="63" name="Shape 63"/>
          <p:cNvSpPr/>
          <p:nvPr/>
        </p:nvSpPr>
        <p:spPr>
          <a:xfrm>
            <a:off x="713232" y="896112"/>
            <a:ext cx="2331720" cy="347472"/>
          </a:xfrm>
          <a:prstGeom prst="roundRect">
            <a:avLst/>
          </a:prstGeom>
          <a:solidFill>
            <a:srgbClr val="C7F15D"/>
          </a:solidFill>
          <a:ln>
            <a:noFill/>
          </a:ln>
        </p:spPr>
        <p:txBody>
          <a:bodyPr/>
          <a:lstStyle/>
          <a:p/>
        </p:txBody>
      </p:sp>
      <p:sp>
        <p:nvSpPr>
          <p:cNvPr id="64" name="TextBox 64"/>
          <p:cNvSpPr txBox="1"/>
          <p:nvPr/>
        </p:nvSpPr>
        <p:spPr>
          <a:xfrm>
            <a:off x="713232" y="946404"/>
            <a:ext cx="2331720" cy="228600"/>
          </a:xfrm>
          <a:prstGeom prst="rect">
            <a:avLst/>
          </a:prstGeom>
          <a:noFill/>
          <a:ln>
            <a:noFill/>
          </a:ln>
        </p:spPr>
        <p:txBody>
          <a:bodyPr lIns="0" rIns="0" tIns="0" bIns="0" wrap="square"/>
          <a:lstStyle/>
          <a:p>
            <a:pPr algn="ctr" lvl="0">
              <a:buNone/>
            </a:pPr>
            <a:r>
              <a:rPr lang="en-US" sz="1000" b="1">
                <a:solidFill>
                  <a:srgbClr val="10120C"/>
                </a:solidFill>
                <a:latin typeface="Aptos"/>
              </a:rPr>
              <a:t>Technology Stack</a:t>
            </a:r>
          </a:p>
        </p:txBody>
      </p:sp>
      <p:sp>
        <p:nvSpPr>
          <p:cNvPr id="65" name="TextBox 65"/>
          <p:cNvSpPr txBox="1"/>
          <p:nvPr/>
        </p:nvSpPr>
        <p:spPr>
          <a:xfrm>
            <a:off x="658368" y="1325880"/>
            <a:ext cx="7223760" cy="960120"/>
          </a:xfrm>
          <a:prstGeom prst="rect">
            <a:avLst/>
          </a:prstGeom>
          <a:noFill/>
          <a:ln>
            <a:noFill/>
          </a:ln>
        </p:spPr>
        <p:txBody>
          <a:bodyPr lIns="0" rIns="0" tIns="0" bIns="0" wrap="square"/>
          <a:lstStyle/>
          <a:p>
            <a:pPr algn="l" lvl="0">
              <a:buNone/>
            </a:pPr>
            <a:r>
              <a:rPr lang="en-US" sz="3100" b="1">
                <a:solidFill>
                  <a:srgbClr val="F4EAD6"/>
                </a:solidFill>
                <a:latin typeface="Georgia"/>
              </a:rPr>
              <a:t>Static web stack, client-side logic, and persistence.</a:t>
            </a:r>
          </a:p>
        </p:txBody>
      </p:sp>
      <p:sp>
        <p:nvSpPr>
          <p:cNvPr id="42" name="Shape 42"/>
          <p:cNvSpPr/>
          <p:nvPr/>
        </p:nvSpPr>
        <p:spPr>
          <a:xfrm>
            <a:off x="658368" y="2331720"/>
            <a:ext cx="2651760" cy="2331720"/>
          </a:xfrm>
          <a:prstGeom prst="roundRect">
            <a:avLst/>
          </a:prstGeom>
          <a:solidFill>
            <a:srgbClr val="171912"/>
          </a:solidFill>
          <a:ln w="12700">
            <a:solidFill>
              <a:srgbClr val="3B3A2F"/>
            </a:solidFill>
          </a:ln>
        </p:spPr>
        <p:txBody>
          <a:bodyPr/>
          <a:lstStyle/>
          <a:p/>
        </p:txBody>
      </p:sp>
      <p:sp>
        <p:nvSpPr>
          <p:cNvPr id="43" name="Shape 43"/>
          <p:cNvSpPr/>
          <p:nvPr/>
        </p:nvSpPr>
        <p:spPr>
          <a:xfrm>
            <a:off x="841248" y="2514600"/>
            <a:ext cx="109728" cy="109728"/>
          </a:xfrm>
          <a:prstGeom prst="ellipse">
            <a:avLst/>
          </a:prstGeom>
          <a:solidFill>
            <a:srgbClr val="D8AE53"/>
          </a:solidFill>
          <a:ln>
            <a:noFill/>
          </a:ln>
        </p:spPr>
        <p:txBody>
          <a:bodyPr/>
          <a:lstStyle/>
          <a:p/>
        </p:txBody>
      </p:sp>
      <p:sp>
        <p:nvSpPr>
          <p:cNvPr id="44" name="TextBox 44"/>
          <p:cNvSpPr txBox="1"/>
          <p:nvPr/>
        </p:nvSpPr>
        <p:spPr>
          <a:xfrm>
            <a:off x="1042416" y="2450592"/>
            <a:ext cx="2084832" cy="365760"/>
          </a:xfrm>
          <a:prstGeom prst="rect">
            <a:avLst/>
          </a:prstGeom>
          <a:noFill/>
          <a:ln>
            <a:noFill/>
          </a:ln>
        </p:spPr>
        <p:txBody>
          <a:bodyPr lIns="0" rIns="0" tIns="0" bIns="0" wrap="square"/>
          <a:lstStyle/>
          <a:p>
            <a:pPr algn="l" lvl="0">
              <a:buNone/>
            </a:pPr>
            <a:r>
              <a:rPr lang="en-US" sz="1500" b="1">
                <a:solidFill>
                  <a:srgbClr val="F4EAD6"/>
                </a:solidFill>
                <a:latin typeface="Aptos"/>
              </a:rPr>
              <a:t>HTML</a:t>
            </a:r>
          </a:p>
        </p:txBody>
      </p:sp>
      <p:sp>
        <p:nvSpPr>
          <p:cNvPr id="45" name="TextBox 45"/>
          <p:cNvSpPr txBox="1"/>
          <p:nvPr/>
        </p:nvSpPr>
        <p:spPr>
          <a:xfrm>
            <a:off x="987552" y="2953512"/>
            <a:ext cx="2084832" cy="1508760"/>
          </a:xfrm>
          <a:prstGeom prst="rect">
            <a:avLst/>
          </a:prstGeom>
          <a:noFill/>
          <a:ln>
            <a:noFill/>
          </a:ln>
        </p:spPr>
        <p:txBody>
          <a:bodyPr lIns="0" rIns="0" tIns="0" bIns="0" wrap="square"/>
          <a:lstStyle/>
          <a:p>
            <a:pPr algn="l" lvl="0">
              <a:buChar char="-"/>
            </a:pPr>
            <a:r>
              <a:rPr lang="en-US" sz="1100">
                <a:solidFill>
                  <a:srgbClr val="D8CDB5"/>
                </a:solidFill>
                <a:latin typeface="Aptos"/>
              </a:rPr>
              <a:t>Semantic pages</a:t>
            </a:r>
          </a:p>
          <a:p>
            <a:pPr algn="l" lvl="0">
              <a:buChar char="-"/>
            </a:pPr>
            <a:r>
              <a:rPr lang="en-US" sz="1100">
                <a:solidFill>
                  <a:srgbClr val="D8CDB5"/>
                </a:solidFill>
                <a:latin typeface="Aptos"/>
              </a:rPr>
              <a:t>Accessible labels</a:t>
            </a:r>
          </a:p>
          <a:p>
            <a:pPr algn="l" lvl="0">
              <a:buChar char="-"/>
            </a:pPr>
            <a:r>
              <a:rPr lang="en-US" sz="1100">
                <a:solidFill>
                  <a:srgbClr val="D8CDB5"/>
                </a:solidFill>
                <a:latin typeface="Aptos"/>
              </a:rPr>
              <a:t>Validated form inputs</a:t>
            </a:r>
          </a:p>
        </p:txBody>
      </p:sp>
      <p:sp>
        <p:nvSpPr>
          <p:cNvPr id="46" name="Shape 46"/>
          <p:cNvSpPr/>
          <p:nvPr/>
        </p:nvSpPr>
        <p:spPr>
          <a:xfrm>
            <a:off x="3547872" y="2331720"/>
            <a:ext cx="2651760" cy="2331720"/>
          </a:xfrm>
          <a:prstGeom prst="roundRect">
            <a:avLst/>
          </a:prstGeom>
          <a:solidFill>
            <a:srgbClr val="171912"/>
          </a:solidFill>
          <a:ln w="12700">
            <a:solidFill>
              <a:srgbClr val="3B3A2F"/>
            </a:solidFill>
          </a:ln>
        </p:spPr>
        <p:txBody>
          <a:bodyPr/>
          <a:lstStyle/>
          <a:p/>
        </p:txBody>
      </p:sp>
      <p:sp>
        <p:nvSpPr>
          <p:cNvPr id="47" name="Shape 47"/>
          <p:cNvSpPr/>
          <p:nvPr/>
        </p:nvSpPr>
        <p:spPr>
          <a:xfrm>
            <a:off x="3730752" y="2514600"/>
            <a:ext cx="109728" cy="109728"/>
          </a:xfrm>
          <a:prstGeom prst="ellipse">
            <a:avLst/>
          </a:prstGeom>
          <a:solidFill>
            <a:srgbClr val="C7F15D"/>
          </a:solidFill>
          <a:ln>
            <a:noFill/>
          </a:ln>
        </p:spPr>
        <p:txBody>
          <a:bodyPr/>
          <a:lstStyle/>
          <a:p/>
        </p:txBody>
      </p:sp>
      <p:sp>
        <p:nvSpPr>
          <p:cNvPr id="48" name="TextBox 48"/>
          <p:cNvSpPr txBox="1"/>
          <p:nvPr/>
        </p:nvSpPr>
        <p:spPr>
          <a:xfrm>
            <a:off x="3931920" y="2450592"/>
            <a:ext cx="2084832" cy="365760"/>
          </a:xfrm>
          <a:prstGeom prst="rect">
            <a:avLst/>
          </a:prstGeom>
          <a:noFill/>
          <a:ln>
            <a:noFill/>
          </a:ln>
        </p:spPr>
        <p:txBody>
          <a:bodyPr lIns="0" rIns="0" tIns="0" bIns="0" wrap="square"/>
          <a:lstStyle/>
          <a:p>
            <a:pPr algn="l" lvl="0">
              <a:buNone/>
            </a:pPr>
            <a:r>
              <a:rPr lang="en-US" sz="1500" b="1">
                <a:solidFill>
                  <a:srgbClr val="F4EAD6"/>
                </a:solidFill>
                <a:latin typeface="Aptos"/>
              </a:rPr>
              <a:t>CSS</a:t>
            </a:r>
          </a:p>
        </p:txBody>
      </p:sp>
      <p:sp>
        <p:nvSpPr>
          <p:cNvPr id="49" name="TextBox 49"/>
          <p:cNvSpPr txBox="1"/>
          <p:nvPr/>
        </p:nvSpPr>
        <p:spPr>
          <a:xfrm>
            <a:off x="3877056" y="2953512"/>
            <a:ext cx="2084832" cy="1508760"/>
          </a:xfrm>
          <a:prstGeom prst="rect">
            <a:avLst/>
          </a:prstGeom>
          <a:noFill/>
          <a:ln>
            <a:noFill/>
          </a:ln>
        </p:spPr>
        <p:txBody>
          <a:bodyPr lIns="0" rIns="0" tIns="0" bIns="0" wrap="square"/>
          <a:lstStyle/>
          <a:p>
            <a:pPr algn="l" lvl="0">
              <a:buChar char="-"/>
            </a:pPr>
            <a:r>
              <a:rPr lang="en-US" sz="1100">
                <a:solidFill>
                  <a:srgbClr val="D8CDB5"/>
                </a:solidFill>
                <a:latin typeface="Aptos"/>
              </a:rPr>
              <a:t>Design tokens</a:t>
            </a:r>
          </a:p>
          <a:p>
            <a:pPr algn="l" lvl="0">
              <a:buChar char="-"/>
            </a:pPr>
            <a:r>
              <a:rPr lang="en-US" sz="1100">
                <a:solidFill>
                  <a:srgbClr val="D8CDB5"/>
                </a:solidFill>
                <a:latin typeface="Aptos"/>
              </a:rPr>
              <a:t>Responsive breakpoints</a:t>
            </a:r>
          </a:p>
          <a:p>
            <a:pPr algn="l" lvl="0">
              <a:buChar char="-"/>
            </a:pPr>
            <a:r>
              <a:rPr lang="en-US" sz="1100">
                <a:solidFill>
                  <a:srgbClr val="D8CDB5"/>
                </a:solidFill>
                <a:latin typeface="Aptos"/>
              </a:rPr>
              <a:t>Component styling</a:t>
            </a:r>
          </a:p>
        </p:txBody>
      </p:sp>
      <p:sp>
        <p:nvSpPr>
          <p:cNvPr id="50" name="Shape 50"/>
          <p:cNvSpPr/>
          <p:nvPr/>
        </p:nvSpPr>
        <p:spPr>
          <a:xfrm>
            <a:off x="6437376" y="2331720"/>
            <a:ext cx="2651760" cy="2331720"/>
          </a:xfrm>
          <a:prstGeom prst="roundRect">
            <a:avLst/>
          </a:prstGeom>
          <a:solidFill>
            <a:srgbClr val="171912"/>
          </a:solidFill>
          <a:ln w="12700">
            <a:solidFill>
              <a:srgbClr val="3B3A2F"/>
            </a:solidFill>
          </a:ln>
        </p:spPr>
        <p:txBody>
          <a:bodyPr/>
          <a:lstStyle/>
          <a:p/>
        </p:txBody>
      </p:sp>
      <p:sp>
        <p:nvSpPr>
          <p:cNvPr id="51" name="Shape 51"/>
          <p:cNvSpPr/>
          <p:nvPr/>
        </p:nvSpPr>
        <p:spPr>
          <a:xfrm>
            <a:off x="6620256" y="2514600"/>
            <a:ext cx="109728" cy="109728"/>
          </a:xfrm>
          <a:prstGeom prst="ellipse">
            <a:avLst/>
          </a:prstGeom>
          <a:solidFill>
            <a:srgbClr val="7FC6B0"/>
          </a:solidFill>
          <a:ln>
            <a:noFill/>
          </a:ln>
        </p:spPr>
        <p:txBody>
          <a:bodyPr/>
          <a:lstStyle/>
          <a:p/>
        </p:txBody>
      </p:sp>
      <p:sp>
        <p:nvSpPr>
          <p:cNvPr id="52" name="TextBox 52"/>
          <p:cNvSpPr txBox="1"/>
          <p:nvPr/>
        </p:nvSpPr>
        <p:spPr>
          <a:xfrm>
            <a:off x="6821424" y="2450592"/>
            <a:ext cx="2084832" cy="365760"/>
          </a:xfrm>
          <a:prstGeom prst="rect">
            <a:avLst/>
          </a:prstGeom>
          <a:noFill/>
          <a:ln>
            <a:noFill/>
          </a:ln>
        </p:spPr>
        <p:txBody>
          <a:bodyPr lIns="0" rIns="0" tIns="0" bIns="0" wrap="square"/>
          <a:lstStyle/>
          <a:p>
            <a:pPr algn="l" lvl="0">
              <a:buNone/>
            </a:pPr>
            <a:r>
              <a:rPr lang="en-US" sz="1500" b="1">
                <a:solidFill>
                  <a:srgbClr val="F4EAD6"/>
                </a:solidFill>
                <a:latin typeface="Aptos"/>
              </a:rPr>
              <a:t>JavaScript</a:t>
            </a:r>
          </a:p>
        </p:txBody>
      </p:sp>
      <p:sp>
        <p:nvSpPr>
          <p:cNvPr id="53" name="TextBox 53"/>
          <p:cNvSpPr txBox="1"/>
          <p:nvPr/>
        </p:nvSpPr>
        <p:spPr>
          <a:xfrm>
            <a:off x="6766560" y="2953512"/>
            <a:ext cx="2084832" cy="1508760"/>
          </a:xfrm>
          <a:prstGeom prst="rect">
            <a:avLst/>
          </a:prstGeom>
          <a:noFill/>
          <a:ln>
            <a:noFill/>
          </a:ln>
        </p:spPr>
        <p:txBody>
          <a:bodyPr lIns="0" rIns="0" tIns="0" bIns="0" wrap="square"/>
          <a:lstStyle/>
          <a:p>
            <a:pPr algn="l" lvl="0">
              <a:buChar char="-"/>
            </a:pPr>
            <a:r>
              <a:rPr lang="en-US" sz="1100">
                <a:solidFill>
                  <a:srgbClr val="D8CDB5"/>
                </a:solidFill>
                <a:latin typeface="Aptos"/>
              </a:rPr>
              <a:t>Modal interactions</a:t>
            </a:r>
          </a:p>
          <a:p>
            <a:pPr algn="l" lvl="0">
              <a:buChar char="-"/>
            </a:pPr>
            <a:r>
              <a:rPr lang="en-US" sz="1100">
                <a:solidFill>
                  <a:srgbClr val="D8CDB5"/>
                </a:solidFill>
                <a:latin typeface="Aptos"/>
              </a:rPr>
              <a:t>Search and sorting</a:t>
            </a:r>
          </a:p>
          <a:p>
            <a:pPr algn="l" lvl="0">
              <a:buChar char="-"/>
            </a:pPr>
            <a:r>
              <a:rPr lang="en-US" sz="1100">
                <a:solidFill>
                  <a:srgbClr val="D8CDB5"/>
                </a:solidFill>
                <a:latin typeface="Aptos"/>
              </a:rPr>
              <a:t>Form save and restore</a:t>
            </a:r>
          </a:p>
        </p:txBody>
      </p:sp>
      <p:sp>
        <p:nvSpPr>
          <p:cNvPr id="54" name="Shape 54"/>
          <p:cNvSpPr/>
          <p:nvPr/>
        </p:nvSpPr>
        <p:spPr>
          <a:xfrm>
            <a:off x="9326880" y="2331720"/>
            <a:ext cx="2267712" cy="2331720"/>
          </a:xfrm>
          <a:prstGeom prst="roundRect">
            <a:avLst/>
          </a:prstGeom>
          <a:solidFill>
            <a:srgbClr val="171912"/>
          </a:solidFill>
          <a:ln w="12700">
            <a:solidFill>
              <a:srgbClr val="3B3A2F"/>
            </a:solidFill>
          </a:ln>
        </p:spPr>
        <p:txBody>
          <a:bodyPr/>
          <a:lstStyle/>
          <a:p/>
        </p:txBody>
      </p:sp>
      <p:sp>
        <p:nvSpPr>
          <p:cNvPr id="55" name="Shape 55"/>
          <p:cNvSpPr/>
          <p:nvPr/>
        </p:nvSpPr>
        <p:spPr>
          <a:xfrm>
            <a:off x="9509760" y="2514600"/>
            <a:ext cx="109728" cy="109728"/>
          </a:xfrm>
          <a:prstGeom prst="ellipse">
            <a:avLst/>
          </a:prstGeom>
          <a:solidFill>
            <a:srgbClr val="E67D62"/>
          </a:solidFill>
          <a:ln>
            <a:noFill/>
          </a:ln>
        </p:spPr>
        <p:txBody>
          <a:bodyPr/>
          <a:lstStyle/>
          <a:p/>
        </p:txBody>
      </p:sp>
      <p:sp>
        <p:nvSpPr>
          <p:cNvPr id="56" name="TextBox 56"/>
          <p:cNvSpPr txBox="1"/>
          <p:nvPr/>
        </p:nvSpPr>
        <p:spPr>
          <a:xfrm>
            <a:off x="9710928" y="2450592"/>
            <a:ext cx="1700784" cy="365760"/>
          </a:xfrm>
          <a:prstGeom prst="rect">
            <a:avLst/>
          </a:prstGeom>
          <a:noFill/>
          <a:ln>
            <a:noFill/>
          </a:ln>
        </p:spPr>
        <p:txBody>
          <a:bodyPr lIns="0" rIns="0" tIns="0" bIns="0" wrap="square"/>
          <a:lstStyle/>
          <a:p>
            <a:pPr algn="l" lvl="0">
              <a:buNone/>
            </a:pPr>
            <a:r>
              <a:rPr lang="en-US" sz="1500" b="1">
                <a:solidFill>
                  <a:srgbClr val="F4EAD6"/>
                </a:solidFill>
                <a:latin typeface="Aptos"/>
              </a:rPr>
              <a:t>Browser APIs</a:t>
            </a:r>
          </a:p>
        </p:txBody>
      </p:sp>
      <p:sp>
        <p:nvSpPr>
          <p:cNvPr id="57" name="TextBox 57"/>
          <p:cNvSpPr txBox="1"/>
          <p:nvPr/>
        </p:nvSpPr>
        <p:spPr>
          <a:xfrm>
            <a:off x="9656064" y="2953512"/>
            <a:ext cx="1700784" cy="1508760"/>
          </a:xfrm>
          <a:prstGeom prst="rect">
            <a:avLst/>
          </a:prstGeom>
          <a:noFill/>
          <a:ln>
            <a:noFill/>
          </a:ln>
        </p:spPr>
        <p:txBody>
          <a:bodyPr lIns="0" rIns="0" tIns="0" bIns="0" wrap="square"/>
          <a:lstStyle/>
          <a:p>
            <a:pPr algn="l" lvl="0">
              <a:buChar char="-"/>
            </a:pPr>
            <a:r>
              <a:rPr lang="en-US" sz="1100">
                <a:solidFill>
                  <a:srgbClr val="D8CDB5"/>
                </a:solidFill>
                <a:latin typeface="Aptos"/>
              </a:rPr>
              <a:t>localStorage</a:t>
            </a:r>
          </a:p>
          <a:p>
            <a:pPr algn="l" lvl="0">
              <a:buChar char="-"/>
            </a:pPr>
            <a:r>
              <a:rPr lang="en-US" sz="1100">
                <a:solidFill>
                  <a:srgbClr val="D8CDB5"/>
                </a:solidFill>
                <a:latin typeface="Aptos"/>
              </a:rPr>
              <a:t>IntersectionObserver</a:t>
            </a:r>
          </a:p>
          <a:p>
            <a:pPr algn="l" lvl="0">
              <a:buChar char="-"/>
            </a:pPr>
            <a:r>
              <a:rPr lang="en-US" sz="1100">
                <a:solidFill>
                  <a:srgbClr val="D8CDB5"/>
                </a:solidFill>
                <a:latin typeface="Aptos"/>
              </a:rPr>
              <a:t>Constraint Validation API</a:t>
            </a:r>
          </a:p>
        </p:txBody>
      </p:sp>
      <p:sp>
        <p:nvSpPr>
          <p:cNvPr id="66" name="TextBox 66"/>
          <p:cNvSpPr txBox="1"/>
          <p:nvPr/>
        </p:nvSpPr>
        <p:spPr>
          <a:xfrm>
            <a:off x="658368" y="6446520"/>
            <a:ext cx="5669280" cy="219456"/>
          </a:xfrm>
          <a:prstGeom prst="rect">
            <a:avLst/>
          </a:prstGeom>
          <a:noFill/>
          <a:ln>
            <a:noFill/>
          </a:ln>
        </p:spPr>
        <p:txBody>
          <a:bodyPr lIns="0" rIns="0" tIns="0" bIns="0" wrap="square"/>
          <a:lstStyle/>
          <a:p>
            <a:pPr algn="l" lvl="0">
              <a:buNone/>
            </a:pPr>
            <a:r>
              <a:rPr lang="en-US" sz="800">
                <a:solidFill>
                  <a:srgbClr val="9F9787"/>
                </a:solidFill>
                <a:latin typeface="Aptos"/>
              </a:rPr>
              <a:t>Brilliant's Music Universe - UAS Web Client Development</a:t>
            </a:r>
          </a:p>
        </p:txBody>
      </p:sp>
      <p:sp>
        <p:nvSpPr>
          <p:cNvPr id="67" name="TextBox 67"/>
          <p:cNvSpPr txBox="1"/>
          <p:nvPr/>
        </p:nvSpPr>
        <p:spPr>
          <a:xfrm>
            <a:off x="11201400" y="6446520"/>
            <a:ext cx="347472" cy="219456"/>
          </a:xfrm>
          <a:prstGeom prst="rect">
            <a:avLst/>
          </a:prstGeom>
          <a:noFill/>
          <a:ln>
            <a:noFill/>
          </a:ln>
        </p:spPr>
        <p:txBody>
          <a:bodyPr lIns="0" rIns="0" tIns="0" bIns="0" wrap="square"/>
          <a:lstStyle/>
          <a:p>
            <a:pPr algn="r" lvl="0">
              <a:buNone/>
            </a:pPr>
            <a:r>
              <a:rPr lang="en-US" sz="800">
                <a:solidFill>
                  <a:srgbClr val="9F9787"/>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Shape 88"/>
          <p:cNvSpPr/>
          <p:nvPr/>
        </p:nvSpPr>
        <p:spPr>
          <a:xfrm>
            <a:off x="0" y="0"/>
            <a:ext cx="12192000" cy="6858000"/>
          </a:xfrm>
          <a:prstGeom prst="rect">
            <a:avLst/>
          </a:prstGeom>
          <a:solidFill>
            <a:srgbClr val="0D0E0B"/>
          </a:solidFill>
          <a:ln>
            <a:noFill/>
          </a:ln>
        </p:spPr>
        <p:txBody>
          <a:bodyPr/>
          <a:lstStyle/>
          <a:p/>
        </p:txBody>
      </p:sp>
      <p:sp>
        <p:nvSpPr>
          <p:cNvPr id="89" name="Shape 89"/>
          <p:cNvSpPr/>
          <p:nvPr/>
        </p:nvSpPr>
        <p:spPr>
          <a:xfrm>
            <a:off x="8549640" y="-228600"/>
            <a:ext cx="3291840" cy="2377440"/>
          </a:xfrm>
          <a:prstGeom prst="ellipse">
            <a:avLst/>
          </a:prstGeom>
          <a:solidFill>
            <a:srgbClr val="162018"/>
          </a:solidFill>
          <a:ln>
            <a:noFill/>
          </a:ln>
        </p:spPr>
        <p:txBody>
          <a:bodyPr/>
          <a:lstStyle/>
          <a:p/>
        </p:txBody>
      </p:sp>
      <p:sp>
        <p:nvSpPr>
          <p:cNvPr id="90" name="Shape 90"/>
          <p:cNvSpPr/>
          <p:nvPr/>
        </p:nvSpPr>
        <p:spPr>
          <a:xfrm>
            <a:off x="-594360" y="4663440"/>
            <a:ext cx="2926080" cy="2011680"/>
          </a:xfrm>
          <a:prstGeom prst="ellipse">
            <a:avLst/>
          </a:prstGeom>
          <a:solidFill>
            <a:srgbClr val="1B2416"/>
          </a:solidFill>
          <a:ln>
            <a:noFill/>
          </a:ln>
        </p:spPr>
        <p:txBody>
          <a:bodyPr/>
          <a:lstStyle/>
          <a:p/>
        </p:txBody>
      </p:sp>
      <p:sp>
        <p:nvSpPr>
          <p:cNvPr id="91" name="Shape 91"/>
          <p:cNvSpPr/>
          <p:nvPr/>
        </p:nvSpPr>
        <p:spPr>
          <a:xfrm>
            <a:off x="658368" y="530352"/>
            <a:ext cx="530352" cy="530352"/>
          </a:xfrm>
          <a:prstGeom prst="ellipse">
            <a:avLst/>
          </a:prstGeom>
          <a:solidFill>
            <a:srgbClr val="C7F15D"/>
          </a:solidFill>
          <a:ln>
            <a:noFill/>
          </a:ln>
        </p:spPr>
        <p:txBody>
          <a:bodyPr/>
          <a:lstStyle/>
          <a:p/>
        </p:txBody>
      </p:sp>
      <p:sp>
        <p:nvSpPr>
          <p:cNvPr id="92" name="TextBox 92"/>
          <p:cNvSpPr txBox="1"/>
          <p:nvPr/>
        </p:nvSpPr>
        <p:spPr>
          <a:xfrm>
            <a:off x="813816" y="649224"/>
            <a:ext cx="237744" cy="237744"/>
          </a:xfrm>
          <a:prstGeom prst="rect">
            <a:avLst/>
          </a:prstGeom>
          <a:noFill/>
          <a:ln>
            <a:noFill/>
          </a:ln>
        </p:spPr>
        <p:txBody>
          <a:bodyPr lIns="0" rIns="0" tIns="0" bIns="0" wrap="square"/>
          <a:lstStyle/>
          <a:p>
            <a:pPr algn="ctr" lvl="0">
              <a:buNone/>
            </a:pPr>
            <a:r>
              <a:rPr lang="en-US" sz="1300" b="1">
                <a:solidFill>
                  <a:srgbClr val="10120C"/>
                </a:solidFill>
                <a:latin typeface="Aptos"/>
              </a:rPr>
              <a:t>B</a:t>
            </a:r>
          </a:p>
        </p:txBody>
      </p:sp>
      <p:sp>
        <p:nvSpPr>
          <p:cNvPr id="93" name="Shape 93"/>
          <p:cNvSpPr/>
          <p:nvPr/>
        </p:nvSpPr>
        <p:spPr>
          <a:xfrm>
            <a:off x="713232" y="896112"/>
            <a:ext cx="2331720" cy="347472"/>
          </a:xfrm>
          <a:prstGeom prst="roundRect">
            <a:avLst/>
          </a:prstGeom>
          <a:solidFill>
            <a:srgbClr val="C7F15D"/>
          </a:solidFill>
          <a:ln>
            <a:noFill/>
          </a:ln>
        </p:spPr>
        <p:txBody>
          <a:bodyPr/>
          <a:lstStyle/>
          <a:p/>
        </p:txBody>
      </p:sp>
      <p:sp>
        <p:nvSpPr>
          <p:cNvPr id="94" name="TextBox 94"/>
          <p:cNvSpPr txBox="1"/>
          <p:nvPr/>
        </p:nvSpPr>
        <p:spPr>
          <a:xfrm>
            <a:off x="713232" y="946404"/>
            <a:ext cx="2331720" cy="228600"/>
          </a:xfrm>
          <a:prstGeom prst="rect">
            <a:avLst/>
          </a:prstGeom>
          <a:noFill/>
          <a:ln>
            <a:noFill/>
          </a:ln>
        </p:spPr>
        <p:txBody>
          <a:bodyPr lIns="0" rIns="0" tIns="0" bIns="0" wrap="square"/>
          <a:lstStyle/>
          <a:p>
            <a:pPr algn="ctr" lvl="0">
              <a:buNone/>
            </a:pPr>
            <a:r>
              <a:rPr lang="en-US" sz="1000" b="1">
                <a:solidFill>
                  <a:srgbClr val="10120C"/>
                </a:solidFill>
                <a:latin typeface="Aptos"/>
              </a:rPr>
              <a:t>WEBSITE FEATURES</a:t>
            </a:r>
          </a:p>
        </p:txBody>
      </p:sp>
      <p:sp>
        <p:nvSpPr>
          <p:cNvPr id="95" name="TextBox 95"/>
          <p:cNvSpPr txBox="1"/>
          <p:nvPr/>
        </p:nvSpPr>
        <p:spPr>
          <a:xfrm>
            <a:off x="658368" y="1325880"/>
            <a:ext cx="7223760" cy="960120"/>
          </a:xfrm>
          <a:prstGeom prst="rect">
            <a:avLst/>
          </a:prstGeom>
          <a:noFill/>
          <a:ln>
            <a:noFill/>
          </a:ln>
        </p:spPr>
        <p:txBody>
          <a:bodyPr lIns="0" rIns="0" tIns="0" bIns="0" wrap="square"/>
          <a:lstStyle/>
          <a:p>
            <a:pPr algn="l" lvl="0">
              <a:buNone/>
            </a:pPr>
            <a:r>
              <a:rPr lang="en-US" sz="3100" b="1">
                <a:solidFill>
                  <a:srgbClr val="F4EAD6"/>
                </a:solidFill>
                <a:latin typeface="Georgia"/>
              </a:rPr>
              <a:t>Core experience across all website pages.</a:t>
            </a:r>
          </a:p>
        </p:txBody>
      </p:sp>
      <p:sp>
        <p:nvSpPr>
          <p:cNvPr id="68" name="Shape 68"/>
          <p:cNvSpPr/>
          <p:nvPr/>
        </p:nvSpPr>
        <p:spPr>
          <a:xfrm>
            <a:off x="658368" y="2212848"/>
            <a:ext cx="3474720" cy="1783080"/>
          </a:xfrm>
          <a:prstGeom prst="roundRect">
            <a:avLst/>
          </a:prstGeom>
          <a:solidFill>
            <a:srgbClr val="171912"/>
          </a:solidFill>
          <a:ln w="12700">
            <a:solidFill>
              <a:srgbClr val="3B3A2F"/>
            </a:solidFill>
          </a:ln>
        </p:spPr>
        <p:txBody>
          <a:bodyPr/>
          <a:lstStyle/>
          <a:p/>
        </p:txBody>
      </p:sp>
      <p:sp>
        <p:nvSpPr>
          <p:cNvPr id="69" name="Shape 69"/>
          <p:cNvSpPr/>
          <p:nvPr/>
        </p:nvSpPr>
        <p:spPr>
          <a:xfrm>
            <a:off x="841248" y="2395728"/>
            <a:ext cx="109728" cy="109728"/>
          </a:xfrm>
          <a:prstGeom prst="ellipse">
            <a:avLst/>
          </a:prstGeom>
          <a:solidFill>
            <a:srgbClr val="C7F15D"/>
          </a:solidFill>
          <a:ln>
            <a:noFill/>
          </a:ln>
        </p:spPr>
        <p:txBody>
          <a:bodyPr/>
          <a:lstStyle/>
          <a:p/>
        </p:txBody>
      </p:sp>
      <p:sp>
        <p:nvSpPr>
          <p:cNvPr id="70" name="TextBox 70"/>
          <p:cNvSpPr txBox="1"/>
          <p:nvPr/>
        </p:nvSpPr>
        <p:spPr>
          <a:xfrm>
            <a:off x="1042416" y="2331720"/>
            <a:ext cx="2907792" cy="365760"/>
          </a:xfrm>
          <a:prstGeom prst="rect">
            <a:avLst/>
          </a:prstGeom>
          <a:noFill/>
          <a:ln>
            <a:noFill/>
          </a:ln>
        </p:spPr>
        <p:txBody>
          <a:bodyPr lIns="0" rIns="0" tIns="0" bIns="0" wrap="square"/>
          <a:lstStyle/>
          <a:p>
            <a:pPr algn="l" lvl="0">
              <a:buNone/>
            </a:pPr>
            <a:r>
              <a:rPr lang="en-US" sz="1500" b="1">
                <a:solidFill>
                  <a:srgbClr val="F4EAD6"/>
                </a:solidFill>
                <a:latin typeface="Aptos"/>
              </a:rPr>
              <a:t>Navigation and Layout</a:t>
            </a:r>
          </a:p>
        </p:txBody>
      </p:sp>
      <p:sp>
        <p:nvSpPr>
          <p:cNvPr id="71" name="TextBox 71"/>
          <p:cNvSpPr txBox="1"/>
          <p:nvPr/>
        </p:nvSpPr>
        <p:spPr>
          <a:xfrm>
            <a:off x="987552" y="2834640"/>
            <a:ext cx="2907792" cy="960120"/>
          </a:xfrm>
          <a:prstGeom prst="rect">
            <a:avLst/>
          </a:prstGeom>
          <a:noFill/>
          <a:ln>
            <a:noFill/>
          </a:ln>
        </p:spPr>
        <p:txBody>
          <a:bodyPr lIns="0" rIns="0" tIns="0" bIns="0" wrap="square"/>
          <a:lstStyle/>
          <a:p>
            <a:pPr algn="l" lvl="0">
              <a:buChar char="-"/>
            </a:pPr>
            <a:r>
              <a:rPr lang="en-US" sz="1100">
                <a:solidFill>
                  <a:srgbClr val="D8CDB5"/>
                </a:solidFill>
                <a:latin typeface="Aptos"/>
              </a:rPr>
              <a:t>Sticky header with active page state</a:t>
            </a:r>
          </a:p>
          <a:p>
            <a:pPr algn="l" lvl="0">
              <a:buChar char="-"/>
            </a:pPr>
            <a:r>
              <a:rPr lang="en-US" sz="1100">
                <a:solidFill>
                  <a:srgbClr val="D8CDB5"/>
                </a:solidFill>
                <a:latin typeface="Aptos"/>
              </a:rPr>
              <a:t>Mobile navigation with Escape close</a:t>
            </a:r>
          </a:p>
          <a:p>
            <a:pPr algn="l" lvl="0">
              <a:buChar char="-"/>
            </a:pPr>
            <a:r>
              <a:rPr lang="en-US" sz="1100">
                <a:solidFill>
                  <a:srgbClr val="D8CDB5"/>
                </a:solidFill>
                <a:latin typeface="Aptos"/>
              </a:rPr>
              <a:t>Skip links for keyboard users</a:t>
            </a:r>
          </a:p>
        </p:txBody>
      </p:sp>
      <p:sp>
        <p:nvSpPr>
          <p:cNvPr id="72" name="Shape 72"/>
          <p:cNvSpPr/>
          <p:nvPr/>
        </p:nvSpPr>
        <p:spPr>
          <a:xfrm>
            <a:off x="4370832" y="2212848"/>
            <a:ext cx="3474720" cy="1783080"/>
          </a:xfrm>
          <a:prstGeom prst="roundRect">
            <a:avLst/>
          </a:prstGeom>
          <a:solidFill>
            <a:srgbClr val="171912"/>
          </a:solidFill>
          <a:ln w="12700">
            <a:solidFill>
              <a:srgbClr val="3B3A2F"/>
            </a:solidFill>
          </a:ln>
        </p:spPr>
        <p:txBody>
          <a:bodyPr/>
          <a:lstStyle/>
          <a:p/>
        </p:txBody>
      </p:sp>
      <p:sp>
        <p:nvSpPr>
          <p:cNvPr id="73" name="Shape 73"/>
          <p:cNvSpPr/>
          <p:nvPr/>
        </p:nvSpPr>
        <p:spPr>
          <a:xfrm>
            <a:off x="4553712" y="2395728"/>
            <a:ext cx="109728" cy="109728"/>
          </a:xfrm>
          <a:prstGeom prst="ellipse">
            <a:avLst/>
          </a:prstGeom>
          <a:solidFill>
            <a:srgbClr val="D8AE53"/>
          </a:solidFill>
          <a:ln>
            <a:noFill/>
          </a:ln>
        </p:spPr>
        <p:txBody>
          <a:bodyPr/>
          <a:lstStyle/>
          <a:p/>
        </p:txBody>
      </p:sp>
      <p:sp>
        <p:nvSpPr>
          <p:cNvPr id="74" name="TextBox 74"/>
          <p:cNvSpPr txBox="1"/>
          <p:nvPr/>
        </p:nvSpPr>
        <p:spPr>
          <a:xfrm>
            <a:off x="4754880" y="2331720"/>
            <a:ext cx="2907792" cy="365760"/>
          </a:xfrm>
          <a:prstGeom prst="rect">
            <a:avLst/>
          </a:prstGeom>
          <a:noFill/>
          <a:ln>
            <a:noFill/>
          </a:ln>
        </p:spPr>
        <p:txBody>
          <a:bodyPr lIns="0" rIns="0" tIns="0" bIns="0" wrap="square"/>
          <a:lstStyle/>
          <a:p>
            <a:pPr algn="l" lvl="0">
              <a:buNone/>
            </a:pPr>
            <a:r>
              <a:rPr lang="en-US" sz="1500" b="1">
                <a:solidFill>
                  <a:srgbClr val="F4EAD6"/>
                </a:solidFill>
                <a:latin typeface="Aptos"/>
              </a:rPr>
              <a:t>Home and About</a:t>
            </a:r>
          </a:p>
        </p:txBody>
      </p:sp>
      <p:sp>
        <p:nvSpPr>
          <p:cNvPr id="75" name="TextBox 75"/>
          <p:cNvSpPr txBox="1"/>
          <p:nvPr/>
        </p:nvSpPr>
        <p:spPr>
          <a:xfrm>
            <a:off x="4700016" y="2834640"/>
            <a:ext cx="2907792" cy="960120"/>
          </a:xfrm>
          <a:prstGeom prst="rect">
            <a:avLst/>
          </a:prstGeom>
          <a:noFill/>
          <a:ln>
            <a:noFill/>
          </a:ln>
        </p:spPr>
        <p:txBody>
          <a:bodyPr lIns="0" rIns="0" tIns="0" bIns="0" wrap="square"/>
          <a:lstStyle/>
          <a:p>
            <a:pPr algn="l" lvl="0">
              <a:buChar char="-"/>
            </a:pPr>
            <a:r>
              <a:rPr lang="en-US" sz="1100">
                <a:solidFill>
                  <a:srgbClr val="D8CDB5"/>
                </a:solidFill>
                <a:latin typeface="Aptos"/>
              </a:rPr>
              <a:t>Hero storytelling</a:t>
            </a:r>
          </a:p>
          <a:p>
            <a:pPr algn="l" lvl="0">
              <a:buChar char="-"/>
            </a:pPr>
            <a:r>
              <a:rPr lang="en-US" sz="1100">
                <a:solidFill>
                  <a:srgbClr val="D8CDB5"/>
                </a:solidFill>
                <a:latin typeface="Aptos"/>
              </a:rPr>
              <a:t>Featured playlist section</a:t>
            </a:r>
          </a:p>
          <a:p>
            <a:pPr algn="l" lvl="0">
              <a:buChar char="-"/>
            </a:pPr>
            <a:r>
              <a:rPr lang="en-US" sz="1100">
                <a:solidFill>
                  <a:srgbClr val="D8CDB5"/>
                </a:solidFill>
                <a:latin typeface="Aptos"/>
              </a:rPr>
              <a:t>Curator identity and genre cards</a:t>
            </a:r>
          </a:p>
        </p:txBody>
      </p:sp>
      <p:sp>
        <p:nvSpPr>
          <p:cNvPr id="76" name="Shape 76"/>
          <p:cNvSpPr/>
          <p:nvPr/>
        </p:nvSpPr>
        <p:spPr>
          <a:xfrm>
            <a:off x="8083296" y="2212848"/>
            <a:ext cx="3493008" cy="1783080"/>
          </a:xfrm>
          <a:prstGeom prst="roundRect">
            <a:avLst/>
          </a:prstGeom>
          <a:solidFill>
            <a:srgbClr val="171912"/>
          </a:solidFill>
          <a:ln w="12700">
            <a:solidFill>
              <a:srgbClr val="3B3A2F"/>
            </a:solidFill>
          </a:ln>
        </p:spPr>
        <p:txBody>
          <a:bodyPr/>
          <a:lstStyle/>
          <a:p/>
        </p:txBody>
      </p:sp>
      <p:sp>
        <p:nvSpPr>
          <p:cNvPr id="77" name="Shape 77"/>
          <p:cNvSpPr/>
          <p:nvPr/>
        </p:nvSpPr>
        <p:spPr>
          <a:xfrm>
            <a:off x="8266176" y="2395728"/>
            <a:ext cx="109728" cy="109728"/>
          </a:xfrm>
          <a:prstGeom prst="ellipse">
            <a:avLst/>
          </a:prstGeom>
          <a:solidFill>
            <a:srgbClr val="7FC6B0"/>
          </a:solidFill>
          <a:ln>
            <a:noFill/>
          </a:ln>
        </p:spPr>
        <p:txBody>
          <a:bodyPr/>
          <a:lstStyle/>
          <a:p/>
        </p:txBody>
      </p:sp>
      <p:sp>
        <p:nvSpPr>
          <p:cNvPr id="78" name="TextBox 78"/>
          <p:cNvSpPr txBox="1"/>
          <p:nvPr/>
        </p:nvSpPr>
        <p:spPr>
          <a:xfrm>
            <a:off x="8467344" y="2331720"/>
            <a:ext cx="2926080" cy="365760"/>
          </a:xfrm>
          <a:prstGeom prst="rect">
            <a:avLst/>
          </a:prstGeom>
          <a:noFill/>
          <a:ln>
            <a:noFill/>
          </a:ln>
        </p:spPr>
        <p:txBody>
          <a:bodyPr lIns="0" rIns="0" tIns="0" bIns="0" wrap="square"/>
          <a:lstStyle/>
          <a:p>
            <a:pPr algn="l" lvl="0">
              <a:buNone/>
            </a:pPr>
            <a:r>
              <a:rPr lang="en-US" sz="1500" b="1">
                <a:solidFill>
                  <a:srgbClr val="F4EAD6"/>
                </a:solidFill>
                <a:latin typeface="Aptos"/>
              </a:rPr>
              <a:t>Playlist Experience</a:t>
            </a:r>
          </a:p>
        </p:txBody>
      </p:sp>
      <p:sp>
        <p:nvSpPr>
          <p:cNvPr id="79" name="TextBox 79"/>
          <p:cNvSpPr txBox="1"/>
          <p:nvPr/>
        </p:nvSpPr>
        <p:spPr>
          <a:xfrm>
            <a:off x="8412480" y="2834640"/>
            <a:ext cx="2926080" cy="960120"/>
          </a:xfrm>
          <a:prstGeom prst="rect">
            <a:avLst/>
          </a:prstGeom>
          <a:noFill/>
          <a:ln>
            <a:noFill/>
          </a:ln>
        </p:spPr>
        <p:txBody>
          <a:bodyPr lIns="0" rIns="0" tIns="0" bIns="0" wrap="square"/>
          <a:lstStyle/>
          <a:p>
            <a:pPr algn="l" lvl="0">
              <a:buChar char="-"/>
            </a:pPr>
            <a:r>
              <a:rPr lang="en-US" sz="1100">
                <a:solidFill>
                  <a:srgbClr val="D8CDB5"/>
                </a:solidFill>
                <a:latin typeface="Aptos"/>
              </a:rPr>
              <a:t>Playlist cards</a:t>
            </a:r>
          </a:p>
          <a:p>
            <a:pPr algn="l" lvl="0">
              <a:buChar char="-"/>
            </a:pPr>
            <a:r>
              <a:rPr lang="en-US" sz="1100">
                <a:solidFill>
                  <a:srgbClr val="D8CDB5"/>
                </a:solidFill>
                <a:latin typeface="Aptos"/>
              </a:rPr>
              <a:t>Accessible details modal</a:t>
            </a:r>
          </a:p>
          <a:p>
            <a:pPr algn="l" lvl="0">
              <a:buChar char="-"/>
            </a:pPr>
            <a:r>
              <a:rPr lang="en-US" sz="1100">
                <a:solidFill>
                  <a:srgbClr val="D8CDB5"/>
                </a:solidFill>
                <a:latin typeface="Aptos"/>
              </a:rPr>
              <a:t>Previous and next controls</a:t>
            </a:r>
          </a:p>
        </p:txBody>
      </p:sp>
      <p:sp>
        <p:nvSpPr>
          <p:cNvPr id="80" name="Shape 80"/>
          <p:cNvSpPr/>
          <p:nvPr/>
        </p:nvSpPr>
        <p:spPr>
          <a:xfrm>
            <a:off x="658368" y="4251960"/>
            <a:ext cx="5349240" cy="1261872"/>
          </a:xfrm>
          <a:prstGeom prst="roundRect">
            <a:avLst/>
          </a:prstGeom>
          <a:solidFill>
            <a:srgbClr val="171912"/>
          </a:solidFill>
          <a:ln w="12700">
            <a:solidFill>
              <a:srgbClr val="3B3A2F"/>
            </a:solidFill>
          </a:ln>
        </p:spPr>
        <p:txBody>
          <a:bodyPr/>
          <a:lstStyle/>
          <a:p/>
        </p:txBody>
      </p:sp>
      <p:sp>
        <p:nvSpPr>
          <p:cNvPr id="81" name="Shape 81"/>
          <p:cNvSpPr/>
          <p:nvPr/>
        </p:nvSpPr>
        <p:spPr>
          <a:xfrm>
            <a:off x="841248" y="4434840"/>
            <a:ext cx="109728" cy="109728"/>
          </a:xfrm>
          <a:prstGeom prst="ellipse">
            <a:avLst/>
          </a:prstGeom>
          <a:solidFill>
            <a:srgbClr val="E67D62"/>
          </a:solidFill>
          <a:ln>
            <a:noFill/>
          </a:ln>
        </p:spPr>
        <p:txBody>
          <a:bodyPr/>
          <a:lstStyle/>
          <a:p/>
        </p:txBody>
      </p:sp>
      <p:sp>
        <p:nvSpPr>
          <p:cNvPr id="82" name="TextBox 82"/>
          <p:cNvSpPr txBox="1"/>
          <p:nvPr/>
        </p:nvSpPr>
        <p:spPr>
          <a:xfrm>
            <a:off x="1042416" y="4370832"/>
            <a:ext cx="4782312" cy="365760"/>
          </a:xfrm>
          <a:prstGeom prst="rect">
            <a:avLst/>
          </a:prstGeom>
          <a:noFill/>
          <a:ln>
            <a:noFill/>
          </a:ln>
        </p:spPr>
        <p:txBody>
          <a:bodyPr lIns="0" rIns="0" tIns="0" bIns="0" wrap="square"/>
          <a:lstStyle/>
          <a:p>
            <a:pPr algn="l" lvl="0">
              <a:buNone/>
            </a:pPr>
            <a:r>
              <a:rPr lang="en-US" sz="1500" b="1">
                <a:solidFill>
                  <a:srgbClr val="F4EAD6"/>
                </a:solidFill>
                <a:latin typeface="Aptos"/>
              </a:rPr>
              <a:t>Music Library</a:t>
            </a:r>
          </a:p>
        </p:txBody>
      </p:sp>
      <p:sp>
        <p:nvSpPr>
          <p:cNvPr id="83" name="TextBox 83"/>
          <p:cNvSpPr txBox="1"/>
          <p:nvPr/>
        </p:nvSpPr>
        <p:spPr>
          <a:xfrm>
            <a:off x="987552" y="4873752"/>
            <a:ext cx="4782312" cy="438912"/>
          </a:xfrm>
          <a:prstGeom prst="rect">
            <a:avLst/>
          </a:prstGeom>
          <a:noFill/>
          <a:ln>
            <a:noFill/>
          </a:ln>
        </p:spPr>
        <p:txBody>
          <a:bodyPr lIns="0" rIns="0" tIns="0" bIns="0" wrap="square"/>
          <a:lstStyle/>
          <a:p>
            <a:pPr algn="l" lvl="0">
              <a:buChar char="-"/>
            </a:pPr>
            <a:r>
              <a:rPr lang="en-US" sz="1100">
                <a:solidFill>
                  <a:srgbClr val="D8CDB5"/>
                </a:solidFill>
                <a:latin typeface="Aptos"/>
              </a:rPr>
              <a:t>Search by song or artist</a:t>
            </a:r>
          </a:p>
          <a:p>
            <a:pPr algn="l" lvl="0">
              <a:buChar char="-"/>
            </a:pPr>
            <a:r>
              <a:rPr lang="en-US" sz="1100">
                <a:solidFill>
                  <a:srgbClr val="D8CDB5"/>
                </a:solidFill>
                <a:latin typeface="Aptos"/>
              </a:rPr>
              <a:t>Filter by genre</a:t>
            </a:r>
          </a:p>
          <a:p>
            <a:pPr algn="l" lvl="0">
              <a:buChar char="-"/>
            </a:pPr>
            <a:r>
              <a:rPr lang="en-US" sz="1100">
                <a:solidFill>
                  <a:srgbClr val="D8CDB5"/>
                </a:solidFill>
                <a:latin typeface="Aptos"/>
              </a:rPr>
              <a:t>Sort by title, artist, genre, and duration</a:t>
            </a:r>
          </a:p>
        </p:txBody>
      </p:sp>
      <p:sp>
        <p:nvSpPr>
          <p:cNvPr id="84" name="Shape 84"/>
          <p:cNvSpPr/>
          <p:nvPr/>
        </p:nvSpPr>
        <p:spPr>
          <a:xfrm>
            <a:off x="6236208" y="4251960"/>
            <a:ext cx="5340096" cy="1261872"/>
          </a:xfrm>
          <a:prstGeom prst="roundRect">
            <a:avLst/>
          </a:prstGeom>
          <a:solidFill>
            <a:srgbClr val="171912"/>
          </a:solidFill>
          <a:ln w="12700">
            <a:solidFill>
              <a:srgbClr val="3B3A2F"/>
            </a:solidFill>
          </a:ln>
        </p:spPr>
        <p:txBody>
          <a:bodyPr/>
          <a:lstStyle/>
          <a:p/>
        </p:txBody>
      </p:sp>
      <p:sp>
        <p:nvSpPr>
          <p:cNvPr id="85" name="Shape 85"/>
          <p:cNvSpPr/>
          <p:nvPr/>
        </p:nvSpPr>
        <p:spPr>
          <a:xfrm>
            <a:off x="6419088" y="4434840"/>
            <a:ext cx="109728" cy="109728"/>
          </a:xfrm>
          <a:prstGeom prst="ellipse">
            <a:avLst/>
          </a:prstGeom>
          <a:solidFill>
            <a:srgbClr val="C7F15D"/>
          </a:solidFill>
          <a:ln>
            <a:noFill/>
          </a:ln>
        </p:spPr>
        <p:txBody>
          <a:bodyPr/>
          <a:lstStyle/>
          <a:p/>
        </p:txBody>
      </p:sp>
      <p:sp>
        <p:nvSpPr>
          <p:cNvPr id="86" name="TextBox 86"/>
          <p:cNvSpPr txBox="1"/>
          <p:nvPr/>
        </p:nvSpPr>
        <p:spPr>
          <a:xfrm>
            <a:off x="6620256" y="4370832"/>
            <a:ext cx="4773168" cy="365760"/>
          </a:xfrm>
          <a:prstGeom prst="rect">
            <a:avLst/>
          </a:prstGeom>
          <a:noFill/>
          <a:ln>
            <a:noFill/>
          </a:ln>
        </p:spPr>
        <p:txBody>
          <a:bodyPr lIns="0" rIns="0" tIns="0" bIns="0" wrap="square"/>
          <a:lstStyle/>
          <a:p>
            <a:pPr algn="l" lvl="0">
              <a:buNone/>
            </a:pPr>
            <a:r>
              <a:rPr lang="en-US" sz="1500" b="1">
                <a:solidFill>
                  <a:srgbClr val="F4EAD6"/>
                </a:solidFill>
                <a:latin typeface="Aptos"/>
              </a:rPr>
              <a:t>Responsive Behavior</a:t>
            </a:r>
          </a:p>
        </p:txBody>
      </p:sp>
      <p:sp>
        <p:nvSpPr>
          <p:cNvPr id="87" name="TextBox 87"/>
          <p:cNvSpPr txBox="1"/>
          <p:nvPr/>
        </p:nvSpPr>
        <p:spPr>
          <a:xfrm>
            <a:off x="6565392" y="4873752"/>
            <a:ext cx="4773168" cy="438912"/>
          </a:xfrm>
          <a:prstGeom prst="rect">
            <a:avLst/>
          </a:prstGeom>
          <a:noFill/>
          <a:ln>
            <a:noFill/>
          </a:ln>
        </p:spPr>
        <p:txBody>
          <a:bodyPr lIns="0" rIns="0" tIns="0" bIns="0" wrap="square"/>
          <a:lstStyle/>
          <a:p>
            <a:pPr algn="l" lvl="0">
              <a:buChar char="-"/>
            </a:pPr>
            <a:r>
              <a:rPr lang="en-US" sz="1100">
                <a:solidFill>
                  <a:srgbClr val="D8CDB5"/>
                </a:solidFill>
                <a:latin typeface="Aptos"/>
              </a:rPr>
              <a:t>Desktop grid layouts</a:t>
            </a:r>
          </a:p>
          <a:p>
            <a:pPr algn="l" lvl="0">
              <a:buChar char="-"/>
            </a:pPr>
            <a:r>
              <a:rPr lang="en-US" sz="1100">
                <a:solidFill>
                  <a:srgbClr val="D8CDB5"/>
                </a:solidFill>
                <a:latin typeface="Aptos"/>
              </a:rPr>
              <a:t>Tablet stacking</a:t>
            </a:r>
          </a:p>
          <a:p>
            <a:pPr algn="l" lvl="0">
              <a:buChar char="-"/>
            </a:pPr>
            <a:r>
              <a:rPr lang="en-US" sz="1100">
                <a:solidFill>
                  <a:srgbClr val="D8CDB5"/>
                </a:solidFill>
                <a:latin typeface="Aptos"/>
              </a:rPr>
              <a:t>Mobile form and modal optimization</a:t>
            </a:r>
          </a:p>
        </p:txBody>
      </p:sp>
      <p:sp>
        <p:nvSpPr>
          <p:cNvPr id="96" name="TextBox 96"/>
          <p:cNvSpPr txBox="1"/>
          <p:nvPr/>
        </p:nvSpPr>
        <p:spPr>
          <a:xfrm>
            <a:off x="658368" y="6446520"/>
            <a:ext cx="5669280" cy="219456"/>
          </a:xfrm>
          <a:prstGeom prst="rect">
            <a:avLst/>
          </a:prstGeom>
          <a:noFill/>
          <a:ln>
            <a:noFill/>
          </a:ln>
        </p:spPr>
        <p:txBody>
          <a:bodyPr lIns="0" rIns="0" tIns="0" bIns="0" wrap="square"/>
          <a:lstStyle/>
          <a:p>
            <a:pPr algn="l" lvl="0">
              <a:buNone/>
            </a:pPr>
            <a:r>
              <a:rPr lang="en-US" sz="800">
                <a:solidFill>
                  <a:srgbClr val="9F9787"/>
                </a:solidFill>
                <a:latin typeface="Aptos"/>
              </a:rPr>
              <a:t>Brilliant's Music Universe - UAS Web Client Development</a:t>
            </a:r>
          </a:p>
        </p:txBody>
      </p:sp>
      <p:sp>
        <p:nvSpPr>
          <p:cNvPr id="97" name="TextBox 97"/>
          <p:cNvSpPr txBox="1"/>
          <p:nvPr/>
        </p:nvSpPr>
        <p:spPr>
          <a:xfrm>
            <a:off x="11201400" y="6446520"/>
            <a:ext cx="347472" cy="219456"/>
          </a:xfrm>
          <a:prstGeom prst="rect">
            <a:avLst/>
          </a:prstGeom>
          <a:noFill/>
          <a:ln>
            <a:noFill/>
          </a:ln>
        </p:spPr>
        <p:txBody>
          <a:bodyPr lIns="0" rIns="0" tIns="0" bIns="0" wrap="square"/>
          <a:lstStyle/>
          <a:p>
            <a:pPr algn="r" lvl="0">
              <a:buNone/>
            </a:pPr>
            <a:r>
              <a:rPr lang="en-US" sz="800">
                <a:solidFill>
                  <a:srgbClr val="9F9787"/>
                </a:solidFill>
                <a:latin typeface="Apto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Shape 110"/>
          <p:cNvSpPr/>
          <p:nvPr/>
        </p:nvSpPr>
        <p:spPr>
          <a:xfrm>
            <a:off x="0" y="0"/>
            <a:ext cx="12192000" cy="6858000"/>
          </a:xfrm>
          <a:prstGeom prst="rect">
            <a:avLst/>
          </a:prstGeom>
          <a:solidFill>
            <a:srgbClr val="0D0E0B"/>
          </a:solidFill>
          <a:ln>
            <a:noFill/>
          </a:ln>
        </p:spPr>
        <p:txBody>
          <a:bodyPr/>
          <a:lstStyle/>
          <a:p/>
        </p:txBody>
      </p:sp>
      <p:sp>
        <p:nvSpPr>
          <p:cNvPr id="111" name="Shape 111"/>
          <p:cNvSpPr/>
          <p:nvPr/>
        </p:nvSpPr>
        <p:spPr>
          <a:xfrm>
            <a:off x="8549640" y="-228600"/>
            <a:ext cx="3291840" cy="2377440"/>
          </a:xfrm>
          <a:prstGeom prst="ellipse">
            <a:avLst/>
          </a:prstGeom>
          <a:solidFill>
            <a:srgbClr val="162018"/>
          </a:solidFill>
          <a:ln>
            <a:noFill/>
          </a:ln>
        </p:spPr>
        <p:txBody>
          <a:bodyPr/>
          <a:lstStyle/>
          <a:p/>
        </p:txBody>
      </p:sp>
      <p:sp>
        <p:nvSpPr>
          <p:cNvPr id="112" name="Shape 112"/>
          <p:cNvSpPr/>
          <p:nvPr/>
        </p:nvSpPr>
        <p:spPr>
          <a:xfrm>
            <a:off x="-594360" y="4663440"/>
            <a:ext cx="2926080" cy="2011680"/>
          </a:xfrm>
          <a:prstGeom prst="ellipse">
            <a:avLst/>
          </a:prstGeom>
          <a:solidFill>
            <a:srgbClr val="1B2416"/>
          </a:solidFill>
          <a:ln>
            <a:noFill/>
          </a:ln>
        </p:spPr>
        <p:txBody>
          <a:bodyPr/>
          <a:lstStyle/>
          <a:p/>
        </p:txBody>
      </p:sp>
      <p:sp>
        <p:nvSpPr>
          <p:cNvPr id="113" name="Shape 113"/>
          <p:cNvSpPr/>
          <p:nvPr/>
        </p:nvSpPr>
        <p:spPr>
          <a:xfrm>
            <a:off x="658368" y="530352"/>
            <a:ext cx="530352" cy="530352"/>
          </a:xfrm>
          <a:prstGeom prst="ellipse">
            <a:avLst/>
          </a:prstGeom>
          <a:solidFill>
            <a:srgbClr val="C7F15D"/>
          </a:solidFill>
          <a:ln>
            <a:noFill/>
          </a:ln>
        </p:spPr>
        <p:txBody>
          <a:bodyPr/>
          <a:lstStyle/>
          <a:p/>
        </p:txBody>
      </p:sp>
      <p:sp>
        <p:nvSpPr>
          <p:cNvPr id="114" name="TextBox 114"/>
          <p:cNvSpPr txBox="1"/>
          <p:nvPr/>
        </p:nvSpPr>
        <p:spPr>
          <a:xfrm>
            <a:off x="813816" y="649224"/>
            <a:ext cx="237744" cy="237744"/>
          </a:xfrm>
          <a:prstGeom prst="rect">
            <a:avLst/>
          </a:prstGeom>
          <a:noFill/>
          <a:ln>
            <a:noFill/>
          </a:ln>
        </p:spPr>
        <p:txBody>
          <a:bodyPr lIns="0" rIns="0" tIns="0" bIns="0" wrap="square"/>
          <a:lstStyle/>
          <a:p>
            <a:pPr algn="ctr" lvl="0">
              <a:buNone/>
            </a:pPr>
            <a:r>
              <a:rPr lang="en-US" sz="1300" b="1">
                <a:solidFill>
                  <a:srgbClr val="10120C"/>
                </a:solidFill>
                <a:latin typeface="Aptos"/>
              </a:rPr>
              <a:t>B</a:t>
            </a:r>
          </a:p>
        </p:txBody>
      </p:sp>
      <p:sp>
        <p:nvSpPr>
          <p:cNvPr id="115" name="Shape 115"/>
          <p:cNvSpPr/>
          <p:nvPr/>
        </p:nvSpPr>
        <p:spPr>
          <a:xfrm>
            <a:off x="713232" y="896112"/>
            <a:ext cx="2331720" cy="347472"/>
          </a:xfrm>
          <a:prstGeom prst="roundRect">
            <a:avLst/>
          </a:prstGeom>
          <a:solidFill>
            <a:srgbClr val="C7F15D"/>
          </a:solidFill>
          <a:ln>
            <a:noFill/>
          </a:ln>
        </p:spPr>
        <p:txBody>
          <a:bodyPr/>
          <a:lstStyle/>
          <a:p/>
        </p:txBody>
      </p:sp>
      <p:sp>
        <p:nvSpPr>
          <p:cNvPr id="116" name="TextBox 116"/>
          <p:cNvSpPr txBox="1"/>
          <p:nvPr/>
        </p:nvSpPr>
        <p:spPr>
          <a:xfrm>
            <a:off x="713232" y="946404"/>
            <a:ext cx="2331720" cy="228600"/>
          </a:xfrm>
          <a:prstGeom prst="rect">
            <a:avLst/>
          </a:prstGeom>
          <a:noFill/>
          <a:ln>
            <a:noFill/>
          </a:ln>
        </p:spPr>
        <p:txBody>
          <a:bodyPr lIns="0" rIns="0" tIns="0" bIns="0" wrap="square"/>
          <a:lstStyle/>
          <a:p>
            <a:pPr algn="ctr" lvl="0">
              <a:buNone/>
            </a:pPr>
            <a:r>
              <a:rPr lang="en-US" sz="1000" b="1">
                <a:solidFill>
                  <a:srgbClr val="10120C"/>
                </a:solidFill>
                <a:latin typeface="Aptos"/>
              </a:rPr>
              <a:t>UAS Additional Feature</a:t>
            </a:r>
          </a:p>
        </p:txBody>
      </p:sp>
      <p:sp>
        <p:nvSpPr>
          <p:cNvPr id="117" name="TextBox 117"/>
          <p:cNvSpPr txBox="1"/>
          <p:nvPr/>
        </p:nvSpPr>
        <p:spPr>
          <a:xfrm>
            <a:off x="658368" y="1325880"/>
            <a:ext cx="7223760" cy="960120"/>
          </a:xfrm>
          <a:prstGeom prst="rect">
            <a:avLst/>
          </a:prstGeom>
          <a:noFill/>
          <a:ln>
            <a:noFill/>
          </a:ln>
        </p:spPr>
        <p:txBody>
          <a:bodyPr lIns="0" rIns="0" tIns="0" bIns="0" wrap="square"/>
          <a:lstStyle/>
          <a:p>
            <a:pPr algn="l" lvl="0">
              <a:buNone/>
            </a:pPr>
            <a:r>
              <a:rPr lang="en-US" sz="3100" b="1">
                <a:solidFill>
                  <a:srgbClr val="F4EAD6"/>
                </a:solidFill>
                <a:latin typeface="Georgia"/>
              </a:rPr>
              <a:t>Custom Playlist Request Form requirement mapping.</a:t>
            </a:r>
          </a:p>
        </p:txBody>
      </p:sp>
      <p:sp>
        <p:nvSpPr>
          <p:cNvPr id="98" name="Shape 98"/>
          <p:cNvSpPr/>
          <p:nvPr/>
        </p:nvSpPr>
        <p:spPr>
          <a:xfrm>
            <a:off x="658368" y="2057400"/>
            <a:ext cx="3520440" cy="2971800"/>
          </a:xfrm>
          <a:prstGeom prst="roundRect">
            <a:avLst/>
          </a:prstGeom>
          <a:solidFill>
            <a:srgbClr val="171912"/>
          </a:solidFill>
          <a:ln w="12700">
            <a:solidFill>
              <a:srgbClr val="3B3A2F"/>
            </a:solidFill>
          </a:ln>
        </p:spPr>
        <p:txBody>
          <a:bodyPr/>
          <a:lstStyle/>
          <a:p/>
        </p:txBody>
      </p:sp>
      <p:sp>
        <p:nvSpPr>
          <p:cNvPr id="99" name="Shape 99"/>
          <p:cNvSpPr/>
          <p:nvPr/>
        </p:nvSpPr>
        <p:spPr>
          <a:xfrm>
            <a:off x="841248" y="2240280"/>
            <a:ext cx="109728" cy="109728"/>
          </a:xfrm>
          <a:prstGeom prst="ellipse">
            <a:avLst/>
          </a:prstGeom>
          <a:solidFill>
            <a:srgbClr val="C7F15D"/>
          </a:solidFill>
          <a:ln>
            <a:noFill/>
          </a:ln>
        </p:spPr>
        <p:txBody>
          <a:bodyPr/>
          <a:lstStyle/>
          <a:p/>
        </p:txBody>
      </p:sp>
      <p:sp>
        <p:nvSpPr>
          <p:cNvPr id="100" name="TextBox 100"/>
          <p:cNvSpPr txBox="1"/>
          <p:nvPr/>
        </p:nvSpPr>
        <p:spPr>
          <a:xfrm>
            <a:off x="1042416" y="2176272"/>
            <a:ext cx="2953512" cy="365760"/>
          </a:xfrm>
          <a:prstGeom prst="rect">
            <a:avLst/>
          </a:prstGeom>
          <a:noFill/>
          <a:ln>
            <a:noFill/>
          </a:ln>
        </p:spPr>
        <p:txBody>
          <a:bodyPr lIns="0" rIns="0" tIns="0" bIns="0" wrap="square"/>
          <a:lstStyle/>
          <a:p>
            <a:pPr algn="l" lvl="0">
              <a:buNone/>
            </a:pPr>
            <a:r>
              <a:rPr lang="en-US" sz="1500" b="1">
                <a:solidFill>
                  <a:srgbClr val="F4EAD6"/>
                </a:solidFill>
                <a:latin typeface="Aptos"/>
              </a:rPr>
              <a:t>Form Details</a:t>
            </a:r>
          </a:p>
        </p:txBody>
      </p:sp>
      <p:sp>
        <p:nvSpPr>
          <p:cNvPr id="101" name="TextBox 101"/>
          <p:cNvSpPr txBox="1"/>
          <p:nvPr/>
        </p:nvSpPr>
        <p:spPr>
          <a:xfrm>
            <a:off x="987552" y="2679192"/>
            <a:ext cx="2953512" cy="2148840"/>
          </a:xfrm>
          <a:prstGeom prst="rect">
            <a:avLst/>
          </a:prstGeom>
          <a:noFill/>
          <a:ln>
            <a:noFill/>
          </a:ln>
        </p:spPr>
        <p:txBody>
          <a:bodyPr lIns="0" rIns="0" tIns="0" bIns="0" wrap="square"/>
          <a:lstStyle/>
          <a:p>
            <a:pPr algn="l" lvl="0">
              <a:buChar char="-"/>
            </a:pPr>
            <a:r>
              <a:rPr lang="en-US" sz="1100">
                <a:solidFill>
                  <a:srgbClr val="D8CDB5"/>
                </a:solidFill>
                <a:latin typeface="Aptos"/>
              </a:rPr>
              <a:t>Feature: Request a custom playlist mood.</a:t>
            </a:r>
          </a:p>
          <a:p>
            <a:pPr algn="l" lvl="0">
              <a:buChar char="-"/>
            </a:pPr>
            <a:r>
              <a:rPr lang="en-US" sz="1100">
                <a:solidFill>
                  <a:srgbClr val="D8CDB5"/>
                </a:solidFill>
                <a:latin typeface="Aptos"/>
              </a:rPr>
              <a:t>Location: playlists.html.</a:t>
            </a:r>
          </a:p>
          <a:p>
            <a:pPr algn="l" lvl="0">
              <a:buChar char="-"/>
            </a:pPr>
            <a:r>
              <a:rPr lang="en-US" sz="1100">
                <a:solidFill>
                  <a:srgbClr val="D8CDB5"/>
                </a:solidFill>
                <a:latin typeface="Aptos"/>
              </a:rPr>
              <a:t>Inputs: name, email, mood, song, duration, notes.</a:t>
            </a:r>
          </a:p>
          <a:p>
            <a:pPr algn="l" lvl="0">
              <a:buChar char="-"/>
            </a:pPr>
            <a:r>
              <a:rPr lang="en-US" sz="1100">
                <a:solidFill>
                  <a:srgbClr val="D8CDB5"/>
                </a:solidFill>
                <a:latin typeface="Aptos"/>
              </a:rPr>
              <a:t>Purpose matches the music playlist theme.</a:t>
            </a:r>
          </a:p>
        </p:txBody>
      </p:sp>
      <p:sp>
        <p:nvSpPr>
          <p:cNvPr id="102" name="Shape 102"/>
          <p:cNvSpPr/>
          <p:nvPr/>
        </p:nvSpPr>
        <p:spPr>
          <a:xfrm>
            <a:off x="4407408" y="2057400"/>
            <a:ext cx="3520440" cy="2971800"/>
          </a:xfrm>
          <a:prstGeom prst="roundRect">
            <a:avLst/>
          </a:prstGeom>
          <a:solidFill>
            <a:srgbClr val="171912"/>
          </a:solidFill>
          <a:ln w="12700">
            <a:solidFill>
              <a:srgbClr val="3B3A2F"/>
            </a:solidFill>
          </a:ln>
        </p:spPr>
        <p:txBody>
          <a:bodyPr/>
          <a:lstStyle/>
          <a:p/>
        </p:txBody>
      </p:sp>
      <p:sp>
        <p:nvSpPr>
          <p:cNvPr id="103" name="Shape 103"/>
          <p:cNvSpPr/>
          <p:nvPr/>
        </p:nvSpPr>
        <p:spPr>
          <a:xfrm>
            <a:off x="4590288" y="2240280"/>
            <a:ext cx="109728" cy="109728"/>
          </a:xfrm>
          <a:prstGeom prst="ellipse">
            <a:avLst/>
          </a:prstGeom>
          <a:solidFill>
            <a:srgbClr val="D8AE53"/>
          </a:solidFill>
          <a:ln>
            <a:noFill/>
          </a:ln>
        </p:spPr>
        <p:txBody>
          <a:bodyPr/>
          <a:lstStyle/>
          <a:p/>
        </p:txBody>
      </p:sp>
      <p:sp>
        <p:nvSpPr>
          <p:cNvPr id="104" name="TextBox 104"/>
          <p:cNvSpPr txBox="1"/>
          <p:nvPr/>
        </p:nvSpPr>
        <p:spPr>
          <a:xfrm>
            <a:off x="4791456" y="2176272"/>
            <a:ext cx="2953512" cy="365760"/>
          </a:xfrm>
          <a:prstGeom prst="rect">
            <a:avLst/>
          </a:prstGeom>
          <a:noFill/>
          <a:ln>
            <a:noFill/>
          </a:ln>
        </p:spPr>
        <p:txBody>
          <a:bodyPr lIns="0" rIns="0" tIns="0" bIns="0" wrap="square"/>
          <a:lstStyle/>
          <a:p>
            <a:pPr algn="l" lvl="0">
              <a:buNone/>
            </a:pPr>
            <a:r>
              <a:rPr lang="en-US" sz="1500" b="1">
                <a:solidFill>
                  <a:srgbClr val="F4EAD6"/>
                </a:solidFill>
                <a:latin typeface="Aptos"/>
              </a:rPr>
              <a:t>Validation</a:t>
            </a:r>
          </a:p>
        </p:txBody>
      </p:sp>
      <p:sp>
        <p:nvSpPr>
          <p:cNvPr id="105" name="TextBox 105"/>
          <p:cNvSpPr txBox="1"/>
          <p:nvPr/>
        </p:nvSpPr>
        <p:spPr>
          <a:xfrm>
            <a:off x="4736592" y="2679192"/>
            <a:ext cx="2953512" cy="2148840"/>
          </a:xfrm>
          <a:prstGeom prst="rect">
            <a:avLst/>
          </a:prstGeom>
          <a:noFill/>
          <a:ln>
            <a:noFill/>
          </a:ln>
        </p:spPr>
        <p:txBody>
          <a:bodyPr lIns="0" rIns="0" tIns="0" bIns="0" wrap="square"/>
          <a:lstStyle/>
          <a:p>
            <a:pPr algn="l" lvl="0">
              <a:buChar char="-"/>
            </a:pPr>
            <a:r>
              <a:rPr lang="en-US" sz="1100">
                <a:solidFill>
                  <a:srgbClr val="D8CDB5"/>
                </a:solidFill>
                <a:latin typeface="Aptos"/>
              </a:rPr>
              <a:t>Required fields are enforced before save.</a:t>
            </a:r>
          </a:p>
          <a:p>
            <a:pPr algn="l" lvl="0">
              <a:buChar char="-"/>
            </a:pPr>
            <a:r>
              <a:rPr lang="en-US" sz="1100">
                <a:solidFill>
                  <a:srgbClr val="D8CDB5"/>
                </a:solidFill>
                <a:latin typeface="Aptos"/>
              </a:rPr>
              <a:t>Email uses type=email.</a:t>
            </a:r>
          </a:p>
          <a:p>
            <a:pPr algn="l" lvl="0">
              <a:buChar char="-"/>
            </a:pPr>
            <a:r>
              <a:rPr lang="en-US" sz="1100">
                <a:solidFill>
                  <a:srgbClr val="D8CDB5"/>
                </a:solidFill>
                <a:latin typeface="Aptos"/>
              </a:rPr>
              <a:t>Name and notes use minlength.</a:t>
            </a:r>
          </a:p>
          <a:p>
            <a:pPr algn="l" lvl="0">
              <a:buChar char="-"/>
            </a:pPr>
            <a:r>
              <a:rPr lang="en-US" sz="1100">
                <a:solidFill>
                  <a:srgbClr val="D8CDB5"/>
                </a:solidFill>
                <a:latin typeface="Aptos"/>
              </a:rPr>
              <a:t>Duration uses min=15 and max=240.</a:t>
            </a:r>
          </a:p>
        </p:txBody>
      </p:sp>
      <p:sp>
        <p:nvSpPr>
          <p:cNvPr id="106" name="Shape 106"/>
          <p:cNvSpPr/>
          <p:nvPr/>
        </p:nvSpPr>
        <p:spPr>
          <a:xfrm>
            <a:off x="8156448" y="2057400"/>
            <a:ext cx="3429000" cy="2971800"/>
          </a:xfrm>
          <a:prstGeom prst="roundRect">
            <a:avLst/>
          </a:prstGeom>
          <a:solidFill>
            <a:srgbClr val="171912"/>
          </a:solidFill>
          <a:ln w="12700">
            <a:solidFill>
              <a:srgbClr val="3B3A2F"/>
            </a:solidFill>
          </a:ln>
        </p:spPr>
        <p:txBody>
          <a:bodyPr/>
          <a:lstStyle/>
          <a:p/>
        </p:txBody>
      </p:sp>
      <p:sp>
        <p:nvSpPr>
          <p:cNvPr id="107" name="Shape 107"/>
          <p:cNvSpPr/>
          <p:nvPr/>
        </p:nvSpPr>
        <p:spPr>
          <a:xfrm>
            <a:off x="8339328" y="2240280"/>
            <a:ext cx="109728" cy="109728"/>
          </a:xfrm>
          <a:prstGeom prst="ellipse">
            <a:avLst/>
          </a:prstGeom>
          <a:solidFill>
            <a:srgbClr val="7FC6B0"/>
          </a:solidFill>
          <a:ln>
            <a:noFill/>
          </a:ln>
        </p:spPr>
        <p:txBody>
          <a:bodyPr/>
          <a:lstStyle/>
          <a:p/>
        </p:txBody>
      </p:sp>
      <p:sp>
        <p:nvSpPr>
          <p:cNvPr id="108" name="TextBox 108"/>
          <p:cNvSpPr txBox="1"/>
          <p:nvPr/>
        </p:nvSpPr>
        <p:spPr>
          <a:xfrm>
            <a:off x="8540496" y="2176272"/>
            <a:ext cx="2862072" cy="365760"/>
          </a:xfrm>
          <a:prstGeom prst="rect">
            <a:avLst/>
          </a:prstGeom>
          <a:noFill/>
          <a:ln>
            <a:noFill/>
          </a:ln>
        </p:spPr>
        <p:txBody>
          <a:bodyPr lIns="0" rIns="0" tIns="0" bIns="0" wrap="square"/>
          <a:lstStyle/>
          <a:p>
            <a:pPr algn="l" lvl="0">
              <a:buNone/>
            </a:pPr>
            <a:r>
              <a:rPr lang="en-US" sz="1500" b="1">
                <a:solidFill>
                  <a:srgbClr val="F4EAD6"/>
                </a:solidFill>
                <a:latin typeface="Aptos"/>
              </a:rPr>
              <a:t>LocalStorage Flow</a:t>
            </a:r>
          </a:p>
        </p:txBody>
      </p:sp>
      <p:sp>
        <p:nvSpPr>
          <p:cNvPr id="109" name="TextBox 109"/>
          <p:cNvSpPr txBox="1"/>
          <p:nvPr/>
        </p:nvSpPr>
        <p:spPr>
          <a:xfrm>
            <a:off x="8485632" y="2679192"/>
            <a:ext cx="2862072" cy="2148840"/>
          </a:xfrm>
          <a:prstGeom prst="rect">
            <a:avLst/>
          </a:prstGeom>
          <a:noFill/>
          <a:ln>
            <a:noFill/>
          </a:ln>
        </p:spPr>
        <p:txBody>
          <a:bodyPr lIns="0" rIns="0" tIns="0" bIns="0" wrap="square"/>
          <a:lstStyle/>
          <a:p>
            <a:pPr algn="l" lvl="0">
              <a:buChar char="-"/>
            </a:pPr>
            <a:r>
              <a:rPr lang="en-US" sz="1100">
                <a:solidFill>
                  <a:srgbClr val="D8CDB5"/>
                </a:solidFill>
                <a:latin typeface="Aptos"/>
              </a:rPr>
              <a:t>Valid data is saved to localStorage.</a:t>
            </a:r>
          </a:p>
          <a:p>
            <a:pPr algn="l" lvl="0">
              <a:buChar char="-"/>
            </a:pPr>
            <a:r>
              <a:rPr lang="en-US" sz="1100">
                <a:solidFill>
                  <a:srgbClr val="D8CDB5"/>
                </a:solidFill>
                <a:latin typeface="Aptos"/>
              </a:rPr>
              <a:t>Storage key: brilliantPlaylistRequest.</a:t>
            </a:r>
          </a:p>
          <a:p>
            <a:pPr algn="l" lvl="0">
              <a:buChar char="-"/>
            </a:pPr>
            <a:r>
              <a:rPr lang="en-US" sz="1100">
                <a:solidFill>
                  <a:srgbClr val="D8CDB5"/>
                </a:solidFill>
                <a:latin typeface="Aptos"/>
              </a:rPr>
              <a:t>Saved data refills the form after refresh.</a:t>
            </a:r>
          </a:p>
          <a:p>
            <a:pPr algn="l" lvl="0">
              <a:buChar char="-"/>
            </a:pPr>
            <a:r>
              <a:rPr lang="en-US" sz="1100">
                <a:solidFill>
                  <a:srgbClr val="D8CDB5"/>
                </a:solidFill>
                <a:latin typeface="Aptos"/>
              </a:rPr>
              <a:t>Preview panel displays the saved request.</a:t>
            </a:r>
          </a:p>
        </p:txBody>
      </p:sp>
      <p:sp>
        <p:nvSpPr>
          <p:cNvPr id="118" name="TextBox 118"/>
          <p:cNvSpPr txBox="1"/>
          <p:nvPr/>
        </p:nvSpPr>
        <p:spPr>
          <a:xfrm>
            <a:off x="658368" y="6446520"/>
            <a:ext cx="5669280" cy="219456"/>
          </a:xfrm>
          <a:prstGeom prst="rect">
            <a:avLst/>
          </a:prstGeom>
          <a:noFill/>
          <a:ln>
            <a:noFill/>
          </a:ln>
        </p:spPr>
        <p:txBody>
          <a:bodyPr lIns="0" rIns="0" tIns="0" bIns="0" wrap="square"/>
          <a:lstStyle/>
          <a:p>
            <a:pPr algn="l" lvl="0">
              <a:buNone/>
            </a:pPr>
            <a:r>
              <a:rPr lang="en-US" sz="800">
                <a:solidFill>
                  <a:srgbClr val="9F9787"/>
                </a:solidFill>
                <a:latin typeface="Aptos"/>
              </a:rPr>
              <a:t>Brilliant's Music Universe - UAS Web Client Development</a:t>
            </a:r>
          </a:p>
        </p:txBody>
      </p:sp>
      <p:sp>
        <p:nvSpPr>
          <p:cNvPr id="119" name="TextBox 119"/>
          <p:cNvSpPr txBox="1"/>
          <p:nvPr/>
        </p:nvSpPr>
        <p:spPr>
          <a:xfrm>
            <a:off x="11201400" y="6446520"/>
            <a:ext cx="347472" cy="219456"/>
          </a:xfrm>
          <a:prstGeom prst="rect">
            <a:avLst/>
          </a:prstGeom>
          <a:noFill/>
          <a:ln>
            <a:noFill/>
          </a:ln>
        </p:spPr>
        <p:txBody>
          <a:bodyPr lIns="0" rIns="0" tIns="0" bIns="0" wrap="square"/>
          <a:lstStyle/>
          <a:p>
            <a:pPr algn="r" lvl="0">
              <a:buNone/>
            </a:pPr>
            <a:r>
              <a:rPr lang="en-US" sz="800">
                <a:solidFill>
                  <a:srgbClr val="9F9787"/>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Shape 132"/>
          <p:cNvSpPr/>
          <p:nvPr/>
        </p:nvSpPr>
        <p:spPr>
          <a:xfrm>
            <a:off x="0" y="0"/>
            <a:ext cx="12192000" cy="6858000"/>
          </a:xfrm>
          <a:prstGeom prst="rect">
            <a:avLst/>
          </a:prstGeom>
          <a:solidFill>
            <a:srgbClr val="0D0E0B"/>
          </a:solidFill>
          <a:ln>
            <a:noFill/>
          </a:ln>
        </p:spPr>
        <p:txBody>
          <a:bodyPr/>
          <a:lstStyle/>
          <a:p/>
        </p:txBody>
      </p:sp>
      <p:sp>
        <p:nvSpPr>
          <p:cNvPr id="133" name="Shape 133"/>
          <p:cNvSpPr/>
          <p:nvPr/>
        </p:nvSpPr>
        <p:spPr>
          <a:xfrm>
            <a:off x="8549640" y="-228600"/>
            <a:ext cx="3291840" cy="2377440"/>
          </a:xfrm>
          <a:prstGeom prst="ellipse">
            <a:avLst/>
          </a:prstGeom>
          <a:solidFill>
            <a:srgbClr val="162018"/>
          </a:solidFill>
          <a:ln>
            <a:noFill/>
          </a:ln>
        </p:spPr>
        <p:txBody>
          <a:bodyPr/>
          <a:lstStyle/>
          <a:p/>
        </p:txBody>
      </p:sp>
      <p:sp>
        <p:nvSpPr>
          <p:cNvPr id="134" name="Shape 134"/>
          <p:cNvSpPr/>
          <p:nvPr/>
        </p:nvSpPr>
        <p:spPr>
          <a:xfrm>
            <a:off x="-594360" y="4663440"/>
            <a:ext cx="2926080" cy="2011680"/>
          </a:xfrm>
          <a:prstGeom prst="ellipse">
            <a:avLst/>
          </a:prstGeom>
          <a:solidFill>
            <a:srgbClr val="1B2416"/>
          </a:solidFill>
          <a:ln>
            <a:noFill/>
          </a:ln>
        </p:spPr>
        <p:txBody>
          <a:bodyPr/>
          <a:lstStyle/>
          <a:p/>
        </p:txBody>
      </p:sp>
      <p:sp>
        <p:nvSpPr>
          <p:cNvPr id="135" name="Shape 135"/>
          <p:cNvSpPr/>
          <p:nvPr/>
        </p:nvSpPr>
        <p:spPr>
          <a:xfrm>
            <a:off x="658368" y="530352"/>
            <a:ext cx="530352" cy="530352"/>
          </a:xfrm>
          <a:prstGeom prst="ellipse">
            <a:avLst/>
          </a:prstGeom>
          <a:solidFill>
            <a:srgbClr val="C7F15D"/>
          </a:solidFill>
          <a:ln>
            <a:noFill/>
          </a:ln>
        </p:spPr>
        <p:txBody>
          <a:bodyPr/>
          <a:lstStyle/>
          <a:p/>
        </p:txBody>
      </p:sp>
      <p:sp>
        <p:nvSpPr>
          <p:cNvPr id="136" name="TextBox 136"/>
          <p:cNvSpPr txBox="1"/>
          <p:nvPr/>
        </p:nvSpPr>
        <p:spPr>
          <a:xfrm>
            <a:off x="813816" y="649224"/>
            <a:ext cx="237744" cy="237744"/>
          </a:xfrm>
          <a:prstGeom prst="rect">
            <a:avLst/>
          </a:prstGeom>
          <a:noFill/>
          <a:ln>
            <a:noFill/>
          </a:ln>
        </p:spPr>
        <p:txBody>
          <a:bodyPr lIns="0" rIns="0" tIns="0" bIns="0" wrap="square"/>
          <a:lstStyle/>
          <a:p>
            <a:pPr algn="ctr" lvl="0">
              <a:buNone/>
            </a:pPr>
            <a:r>
              <a:rPr lang="en-US" sz="1300" b="1">
                <a:solidFill>
                  <a:srgbClr val="10120C"/>
                </a:solidFill>
                <a:latin typeface="Aptos"/>
              </a:rPr>
              <a:t>B</a:t>
            </a:r>
          </a:p>
        </p:txBody>
      </p:sp>
      <p:sp>
        <p:nvSpPr>
          <p:cNvPr id="137" name="Shape 137"/>
          <p:cNvSpPr/>
          <p:nvPr/>
        </p:nvSpPr>
        <p:spPr>
          <a:xfrm>
            <a:off x="713232" y="896112"/>
            <a:ext cx="2331720" cy="347472"/>
          </a:xfrm>
          <a:prstGeom prst="roundRect">
            <a:avLst/>
          </a:prstGeom>
          <a:solidFill>
            <a:srgbClr val="C7F15D"/>
          </a:solidFill>
          <a:ln>
            <a:noFill/>
          </a:ln>
        </p:spPr>
        <p:txBody>
          <a:bodyPr/>
          <a:lstStyle/>
          <a:p/>
        </p:txBody>
      </p:sp>
      <p:sp>
        <p:nvSpPr>
          <p:cNvPr id="138" name="TextBox 138"/>
          <p:cNvSpPr txBox="1"/>
          <p:nvPr/>
        </p:nvSpPr>
        <p:spPr>
          <a:xfrm>
            <a:off x="713232" y="946404"/>
            <a:ext cx="2331720" cy="228600"/>
          </a:xfrm>
          <a:prstGeom prst="rect">
            <a:avLst/>
          </a:prstGeom>
          <a:noFill/>
          <a:ln>
            <a:noFill/>
          </a:ln>
        </p:spPr>
        <p:txBody>
          <a:bodyPr lIns="0" rIns="0" tIns="0" bIns="0" wrap="square"/>
          <a:lstStyle/>
          <a:p>
            <a:pPr algn="ctr" lvl="0">
              <a:buNone/>
            </a:pPr>
            <a:r>
              <a:rPr lang="en-US" sz="1000" b="1">
                <a:solidFill>
                  <a:srgbClr val="10120C"/>
                </a:solidFill>
                <a:latin typeface="Aptos"/>
              </a:rPr>
              <a:t>UI / UX Improvements</a:t>
            </a:r>
          </a:p>
        </p:txBody>
      </p:sp>
      <p:sp>
        <p:nvSpPr>
          <p:cNvPr id="139" name="TextBox 139"/>
          <p:cNvSpPr txBox="1"/>
          <p:nvPr/>
        </p:nvSpPr>
        <p:spPr>
          <a:xfrm>
            <a:off x="658368" y="1325880"/>
            <a:ext cx="7223760" cy="960120"/>
          </a:xfrm>
          <a:prstGeom prst="rect">
            <a:avLst/>
          </a:prstGeom>
          <a:noFill/>
          <a:ln>
            <a:noFill/>
          </a:ln>
        </p:spPr>
        <p:txBody>
          <a:bodyPr lIns="0" rIns="0" tIns="0" bIns="0" wrap="square"/>
          <a:lstStyle/>
          <a:p>
            <a:pPr algn="l" lvl="0">
              <a:buNone/>
            </a:pPr>
            <a:r>
              <a:rPr lang="en-US" sz="3100" b="1">
                <a:solidFill>
                  <a:srgbClr val="F4EAD6"/>
                </a:solidFill>
                <a:latin typeface="Georgia"/>
              </a:rPr>
              <a:t>Design quality improvements made for a more professional release.</a:t>
            </a:r>
          </a:p>
        </p:txBody>
      </p:sp>
      <p:sp>
        <p:nvSpPr>
          <p:cNvPr id="120" name="Shape 120"/>
          <p:cNvSpPr/>
          <p:nvPr/>
        </p:nvSpPr>
        <p:spPr>
          <a:xfrm>
            <a:off x="658368" y="2148840"/>
            <a:ext cx="3337560" cy="2468880"/>
          </a:xfrm>
          <a:prstGeom prst="roundRect">
            <a:avLst/>
          </a:prstGeom>
          <a:solidFill>
            <a:srgbClr val="171912"/>
          </a:solidFill>
          <a:ln w="12700">
            <a:solidFill>
              <a:srgbClr val="3B3A2F"/>
            </a:solidFill>
          </a:ln>
        </p:spPr>
        <p:txBody>
          <a:bodyPr/>
          <a:lstStyle/>
          <a:p/>
        </p:txBody>
      </p:sp>
      <p:sp>
        <p:nvSpPr>
          <p:cNvPr id="121" name="Shape 121"/>
          <p:cNvSpPr/>
          <p:nvPr/>
        </p:nvSpPr>
        <p:spPr>
          <a:xfrm>
            <a:off x="841248" y="2331720"/>
            <a:ext cx="109728" cy="109728"/>
          </a:xfrm>
          <a:prstGeom prst="ellipse">
            <a:avLst/>
          </a:prstGeom>
          <a:solidFill>
            <a:srgbClr val="C7F15D"/>
          </a:solidFill>
          <a:ln>
            <a:noFill/>
          </a:ln>
        </p:spPr>
        <p:txBody>
          <a:bodyPr/>
          <a:lstStyle/>
          <a:p/>
        </p:txBody>
      </p:sp>
      <p:sp>
        <p:nvSpPr>
          <p:cNvPr id="122" name="TextBox 122"/>
          <p:cNvSpPr txBox="1"/>
          <p:nvPr/>
        </p:nvSpPr>
        <p:spPr>
          <a:xfrm>
            <a:off x="1042416" y="2267712"/>
            <a:ext cx="2770632" cy="365760"/>
          </a:xfrm>
          <a:prstGeom prst="rect">
            <a:avLst/>
          </a:prstGeom>
          <a:noFill/>
          <a:ln>
            <a:noFill/>
          </a:ln>
        </p:spPr>
        <p:txBody>
          <a:bodyPr lIns="0" rIns="0" tIns="0" bIns="0" wrap="square"/>
          <a:lstStyle/>
          <a:p>
            <a:pPr algn="l" lvl="0">
              <a:buNone/>
            </a:pPr>
            <a:r>
              <a:rPr lang="en-US" sz="1500" b="1">
                <a:solidFill>
                  <a:srgbClr val="F4EAD6"/>
                </a:solidFill>
                <a:latin typeface="Aptos"/>
              </a:rPr>
              <a:t>Visual System</a:t>
            </a:r>
          </a:p>
        </p:txBody>
      </p:sp>
      <p:sp>
        <p:nvSpPr>
          <p:cNvPr id="123" name="TextBox 123"/>
          <p:cNvSpPr txBox="1"/>
          <p:nvPr/>
        </p:nvSpPr>
        <p:spPr>
          <a:xfrm>
            <a:off x="987552" y="2770632"/>
            <a:ext cx="2770632" cy="1645920"/>
          </a:xfrm>
          <a:prstGeom prst="rect">
            <a:avLst/>
          </a:prstGeom>
          <a:noFill/>
          <a:ln>
            <a:noFill/>
          </a:ln>
        </p:spPr>
        <p:txBody>
          <a:bodyPr lIns="0" rIns="0" tIns="0" bIns="0" wrap="square"/>
          <a:lstStyle/>
          <a:p>
            <a:pPr algn="l" lvl="0">
              <a:buChar char="-"/>
            </a:pPr>
            <a:r>
              <a:rPr lang="en-US" sz="1100">
                <a:solidFill>
                  <a:srgbClr val="D8CDB5"/>
                </a:solidFill>
                <a:latin typeface="Aptos"/>
              </a:rPr>
              <a:t>Dark editorial music identity</a:t>
            </a:r>
          </a:p>
          <a:p>
            <a:pPr algn="l" lvl="0">
              <a:buChar char="-"/>
            </a:pPr>
            <a:r>
              <a:rPr lang="en-US" sz="1100">
                <a:solidFill>
                  <a:srgbClr val="D8CDB5"/>
                </a:solidFill>
                <a:latin typeface="Aptos"/>
              </a:rPr>
              <a:t>Consistent color tokens</a:t>
            </a:r>
          </a:p>
          <a:p>
            <a:pPr algn="l" lvl="0">
              <a:buChar char="-"/>
            </a:pPr>
            <a:r>
              <a:rPr lang="en-US" sz="1100">
                <a:solidFill>
                  <a:srgbClr val="D8CDB5"/>
                </a:solidFill>
                <a:latin typeface="Aptos"/>
              </a:rPr>
              <a:t>Premium card and cover-art system</a:t>
            </a:r>
          </a:p>
        </p:txBody>
      </p:sp>
      <p:sp>
        <p:nvSpPr>
          <p:cNvPr id="124" name="Shape 124"/>
          <p:cNvSpPr/>
          <p:nvPr/>
        </p:nvSpPr>
        <p:spPr>
          <a:xfrm>
            <a:off x="4187952" y="2148840"/>
            <a:ext cx="3337560" cy="2468880"/>
          </a:xfrm>
          <a:prstGeom prst="roundRect">
            <a:avLst/>
          </a:prstGeom>
          <a:solidFill>
            <a:srgbClr val="171912"/>
          </a:solidFill>
          <a:ln w="12700">
            <a:solidFill>
              <a:srgbClr val="3B3A2F"/>
            </a:solidFill>
          </a:ln>
        </p:spPr>
        <p:txBody>
          <a:bodyPr/>
          <a:lstStyle/>
          <a:p/>
        </p:txBody>
      </p:sp>
      <p:sp>
        <p:nvSpPr>
          <p:cNvPr id="125" name="Shape 125"/>
          <p:cNvSpPr/>
          <p:nvPr/>
        </p:nvSpPr>
        <p:spPr>
          <a:xfrm>
            <a:off x="4370832" y="2331720"/>
            <a:ext cx="109728" cy="109728"/>
          </a:xfrm>
          <a:prstGeom prst="ellipse">
            <a:avLst/>
          </a:prstGeom>
          <a:solidFill>
            <a:srgbClr val="D8AE53"/>
          </a:solidFill>
          <a:ln>
            <a:noFill/>
          </a:ln>
        </p:spPr>
        <p:txBody>
          <a:bodyPr/>
          <a:lstStyle/>
          <a:p/>
        </p:txBody>
      </p:sp>
      <p:sp>
        <p:nvSpPr>
          <p:cNvPr id="126" name="TextBox 126"/>
          <p:cNvSpPr txBox="1"/>
          <p:nvPr/>
        </p:nvSpPr>
        <p:spPr>
          <a:xfrm>
            <a:off x="4572000" y="2267712"/>
            <a:ext cx="2770632" cy="365760"/>
          </a:xfrm>
          <a:prstGeom prst="rect">
            <a:avLst/>
          </a:prstGeom>
          <a:noFill/>
          <a:ln>
            <a:noFill/>
          </a:ln>
        </p:spPr>
        <p:txBody>
          <a:bodyPr lIns="0" rIns="0" tIns="0" bIns="0" wrap="square"/>
          <a:lstStyle/>
          <a:p>
            <a:pPr algn="l" lvl="0">
              <a:buNone/>
            </a:pPr>
            <a:r>
              <a:rPr lang="en-US" sz="1500" b="1">
                <a:solidFill>
                  <a:srgbClr val="F4EAD6"/>
                </a:solidFill>
                <a:latin typeface="Aptos"/>
              </a:rPr>
              <a:t>Typography and Spacing</a:t>
            </a:r>
          </a:p>
        </p:txBody>
      </p:sp>
      <p:sp>
        <p:nvSpPr>
          <p:cNvPr id="127" name="TextBox 127"/>
          <p:cNvSpPr txBox="1"/>
          <p:nvPr/>
        </p:nvSpPr>
        <p:spPr>
          <a:xfrm>
            <a:off x="4517136" y="2770632"/>
            <a:ext cx="2770632" cy="1645920"/>
          </a:xfrm>
          <a:prstGeom prst="rect">
            <a:avLst/>
          </a:prstGeom>
          <a:noFill/>
          <a:ln>
            <a:noFill/>
          </a:ln>
        </p:spPr>
        <p:txBody>
          <a:bodyPr lIns="0" rIns="0" tIns="0" bIns="0" wrap="square"/>
          <a:lstStyle/>
          <a:p>
            <a:pPr algn="l" lvl="0">
              <a:buChar char="-"/>
            </a:pPr>
            <a:r>
              <a:rPr lang="en-US" sz="1100">
                <a:solidFill>
                  <a:srgbClr val="D8CDB5"/>
                </a:solidFill>
                <a:latin typeface="Aptos"/>
              </a:rPr>
              <a:t>Clear display hierarchy</a:t>
            </a:r>
          </a:p>
          <a:p>
            <a:pPr algn="l" lvl="0">
              <a:buChar char="-"/>
            </a:pPr>
            <a:r>
              <a:rPr lang="en-US" sz="1100">
                <a:solidFill>
                  <a:srgbClr val="D8CDB5"/>
                </a:solidFill>
                <a:latin typeface="Aptos"/>
              </a:rPr>
              <a:t>Balanced section rhythm</a:t>
            </a:r>
          </a:p>
          <a:p>
            <a:pPr algn="l" lvl="0">
              <a:buChar char="-"/>
            </a:pPr>
            <a:r>
              <a:rPr lang="en-US" sz="1100">
                <a:solidFill>
                  <a:srgbClr val="D8CDB5"/>
                </a:solidFill>
                <a:latin typeface="Aptos"/>
              </a:rPr>
              <a:t>Reduced visual noise</a:t>
            </a:r>
          </a:p>
        </p:txBody>
      </p:sp>
      <p:sp>
        <p:nvSpPr>
          <p:cNvPr id="128" name="Shape 128"/>
          <p:cNvSpPr/>
          <p:nvPr/>
        </p:nvSpPr>
        <p:spPr>
          <a:xfrm>
            <a:off x="7717536" y="2148840"/>
            <a:ext cx="3877056" cy="2468880"/>
          </a:xfrm>
          <a:prstGeom prst="roundRect">
            <a:avLst/>
          </a:prstGeom>
          <a:solidFill>
            <a:srgbClr val="171912"/>
          </a:solidFill>
          <a:ln w="12700">
            <a:solidFill>
              <a:srgbClr val="3B3A2F"/>
            </a:solidFill>
          </a:ln>
        </p:spPr>
        <p:txBody>
          <a:bodyPr/>
          <a:lstStyle/>
          <a:p/>
        </p:txBody>
      </p:sp>
      <p:sp>
        <p:nvSpPr>
          <p:cNvPr id="129" name="Shape 129"/>
          <p:cNvSpPr/>
          <p:nvPr/>
        </p:nvSpPr>
        <p:spPr>
          <a:xfrm>
            <a:off x="7900416" y="2331720"/>
            <a:ext cx="109728" cy="109728"/>
          </a:xfrm>
          <a:prstGeom prst="ellipse">
            <a:avLst/>
          </a:prstGeom>
          <a:solidFill>
            <a:srgbClr val="7FC6B0"/>
          </a:solidFill>
          <a:ln>
            <a:noFill/>
          </a:ln>
        </p:spPr>
        <p:txBody>
          <a:bodyPr/>
          <a:lstStyle/>
          <a:p/>
        </p:txBody>
      </p:sp>
      <p:sp>
        <p:nvSpPr>
          <p:cNvPr id="130" name="TextBox 130"/>
          <p:cNvSpPr txBox="1"/>
          <p:nvPr/>
        </p:nvSpPr>
        <p:spPr>
          <a:xfrm>
            <a:off x="8101584" y="2267712"/>
            <a:ext cx="3310128" cy="365760"/>
          </a:xfrm>
          <a:prstGeom prst="rect">
            <a:avLst/>
          </a:prstGeom>
          <a:noFill/>
          <a:ln>
            <a:noFill/>
          </a:ln>
        </p:spPr>
        <p:txBody>
          <a:bodyPr lIns="0" rIns="0" tIns="0" bIns="0" wrap="square"/>
          <a:lstStyle/>
          <a:p>
            <a:pPr algn="l" lvl="0">
              <a:buNone/>
            </a:pPr>
            <a:r>
              <a:rPr lang="en-US" sz="1500" b="1">
                <a:solidFill>
                  <a:srgbClr val="F4EAD6"/>
                </a:solidFill>
                <a:latin typeface="Aptos"/>
              </a:rPr>
              <a:t>Accessibility</a:t>
            </a:r>
          </a:p>
        </p:txBody>
      </p:sp>
      <p:sp>
        <p:nvSpPr>
          <p:cNvPr id="131" name="TextBox 131"/>
          <p:cNvSpPr txBox="1"/>
          <p:nvPr/>
        </p:nvSpPr>
        <p:spPr>
          <a:xfrm>
            <a:off x="8046720" y="2770632"/>
            <a:ext cx="3310128" cy="1645920"/>
          </a:xfrm>
          <a:prstGeom prst="rect">
            <a:avLst/>
          </a:prstGeom>
          <a:noFill/>
          <a:ln>
            <a:noFill/>
          </a:ln>
        </p:spPr>
        <p:txBody>
          <a:bodyPr lIns="0" rIns="0" tIns="0" bIns="0" wrap="square"/>
          <a:lstStyle/>
          <a:p>
            <a:pPr algn="l" lvl="0">
              <a:buChar char="-"/>
            </a:pPr>
            <a:r>
              <a:rPr lang="en-US" sz="1100">
                <a:solidFill>
                  <a:srgbClr val="D8CDB5"/>
                </a:solidFill>
                <a:latin typeface="Aptos"/>
              </a:rPr>
              <a:t>Visible focus states</a:t>
            </a:r>
          </a:p>
          <a:p>
            <a:pPr algn="l" lvl="0">
              <a:buChar char="-"/>
            </a:pPr>
            <a:r>
              <a:rPr lang="en-US" sz="1100">
                <a:solidFill>
                  <a:srgbClr val="D8CDB5"/>
                </a:solidFill>
                <a:latin typeface="Aptos"/>
              </a:rPr>
              <a:t>ARIA modal description</a:t>
            </a:r>
          </a:p>
          <a:p>
            <a:pPr algn="l" lvl="0">
              <a:buChar char="-"/>
            </a:pPr>
            <a:r>
              <a:rPr lang="en-US" sz="1100">
                <a:solidFill>
                  <a:srgbClr val="D8CDB5"/>
                </a:solidFill>
                <a:latin typeface="Aptos"/>
              </a:rPr>
              <a:t>Sort states with aria-sort</a:t>
            </a:r>
          </a:p>
          <a:p>
            <a:pPr algn="l" lvl="0">
              <a:buChar char="-"/>
            </a:pPr>
            <a:r>
              <a:rPr lang="en-US" sz="1100">
                <a:solidFill>
                  <a:srgbClr val="D8CDB5"/>
                </a:solidFill>
                <a:latin typeface="Aptos"/>
              </a:rPr>
              <a:t>Reduced motion support</a:t>
            </a:r>
          </a:p>
        </p:txBody>
      </p:sp>
      <p:sp>
        <p:nvSpPr>
          <p:cNvPr id="140" name="TextBox 140"/>
          <p:cNvSpPr txBox="1"/>
          <p:nvPr/>
        </p:nvSpPr>
        <p:spPr>
          <a:xfrm>
            <a:off x="658368" y="6446520"/>
            <a:ext cx="5669280" cy="219456"/>
          </a:xfrm>
          <a:prstGeom prst="rect">
            <a:avLst/>
          </a:prstGeom>
          <a:noFill/>
          <a:ln>
            <a:noFill/>
          </a:ln>
        </p:spPr>
        <p:txBody>
          <a:bodyPr lIns="0" rIns="0" tIns="0" bIns="0" wrap="square"/>
          <a:lstStyle/>
          <a:p>
            <a:pPr algn="l" lvl="0">
              <a:buNone/>
            </a:pPr>
            <a:r>
              <a:rPr lang="en-US" sz="800">
                <a:solidFill>
                  <a:srgbClr val="9F9787"/>
                </a:solidFill>
                <a:latin typeface="Aptos"/>
              </a:rPr>
              <a:t>Brilliant's Music Universe - UAS Web Client Development</a:t>
            </a:r>
          </a:p>
        </p:txBody>
      </p:sp>
      <p:sp>
        <p:nvSpPr>
          <p:cNvPr id="141" name="TextBox 141"/>
          <p:cNvSpPr txBox="1"/>
          <p:nvPr/>
        </p:nvSpPr>
        <p:spPr>
          <a:xfrm>
            <a:off x="11201400" y="6446520"/>
            <a:ext cx="347472" cy="219456"/>
          </a:xfrm>
          <a:prstGeom prst="rect">
            <a:avLst/>
          </a:prstGeom>
          <a:noFill/>
          <a:ln>
            <a:noFill/>
          </a:ln>
        </p:spPr>
        <p:txBody>
          <a:bodyPr lIns="0" rIns="0" tIns="0" bIns="0" wrap="square"/>
          <a:lstStyle/>
          <a:p>
            <a:pPr algn="r" lvl="0">
              <a:buNone/>
            </a:pPr>
            <a:r>
              <a:rPr lang="en-US" sz="800">
                <a:solidFill>
                  <a:srgbClr val="9F9787"/>
                </a:solidFill>
                <a:latin typeface="Apto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Shape 154"/>
          <p:cNvSpPr/>
          <p:nvPr/>
        </p:nvSpPr>
        <p:spPr>
          <a:xfrm>
            <a:off x="0" y="0"/>
            <a:ext cx="12192000" cy="6858000"/>
          </a:xfrm>
          <a:prstGeom prst="rect">
            <a:avLst/>
          </a:prstGeom>
          <a:solidFill>
            <a:srgbClr val="0D0E0B"/>
          </a:solidFill>
          <a:ln>
            <a:noFill/>
          </a:ln>
        </p:spPr>
        <p:txBody>
          <a:bodyPr/>
          <a:lstStyle/>
          <a:p/>
        </p:txBody>
      </p:sp>
      <p:sp>
        <p:nvSpPr>
          <p:cNvPr id="155" name="Shape 155"/>
          <p:cNvSpPr/>
          <p:nvPr/>
        </p:nvSpPr>
        <p:spPr>
          <a:xfrm>
            <a:off x="8549640" y="-228600"/>
            <a:ext cx="3291840" cy="2377440"/>
          </a:xfrm>
          <a:prstGeom prst="ellipse">
            <a:avLst/>
          </a:prstGeom>
          <a:solidFill>
            <a:srgbClr val="162018"/>
          </a:solidFill>
          <a:ln>
            <a:noFill/>
          </a:ln>
        </p:spPr>
        <p:txBody>
          <a:bodyPr/>
          <a:lstStyle/>
          <a:p/>
        </p:txBody>
      </p:sp>
      <p:sp>
        <p:nvSpPr>
          <p:cNvPr id="156" name="Shape 156"/>
          <p:cNvSpPr/>
          <p:nvPr/>
        </p:nvSpPr>
        <p:spPr>
          <a:xfrm>
            <a:off x="-594360" y="4663440"/>
            <a:ext cx="2926080" cy="2011680"/>
          </a:xfrm>
          <a:prstGeom prst="ellipse">
            <a:avLst/>
          </a:prstGeom>
          <a:solidFill>
            <a:srgbClr val="1B2416"/>
          </a:solidFill>
          <a:ln>
            <a:noFill/>
          </a:ln>
        </p:spPr>
        <p:txBody>
          <a:bodyPr/>
          <a:lstStyle/>
          <a:p/>
        </p:txBody>
      </p:sp>
      <p:sp>
        <p:nvSpPr>
          <p:cNvPr id="157" name="Shape 157"/>
          <p:cNvSpPr/>
          <p:nvPr/>
        </p:nvSpPr>
        <p:spPr>
          <a:xfrm>
            <a:off x="658368" y="530352"/>
            <a:ext cx="530352" cy="530352"/>
          </a:xfrm>
          <a:prstGeom prst="ellipse">
            <a:avLst/>
          </a:prstGeom>
          <a:solidFill>
            <a:srgbClr val="C7F15D"/>
          </a:solidFill>
          <a:ln>
            <a:noFill/>
          </a:ln>
        </p:spPr>
        <p:txBody>
          <a:bodyPr/>
          <a:lstStyle/>
          <a:p/>
        </p:txBody>
      </p:sp>
      <p:sp>
        <p:nvSpPr>
          <p:cNvPr id="158" name="TextBox 158"/>
          <p:cNvSpPr txBox="1"/>
          <p:nvPr/>
        </p:nvSpPr>
        <p:spPr>
          <a:xfrm>
            <a:off x="813816" y="649224"/>
            <a:ext cx="237744" cy="237744"/>
          </a:xfrm>
          <a:prstGeom prst="rect">
            <a:avLst/>
          </a:prstGeom>
          <a:noFill/>
          <a:ln>
            <a:noFill/>
          </a:ln>
        </p:spPr>
        <p:txBody>
          <a:bodyPr lIns="0" rIns="0" tIns="0" bIns="0" wrap="square"/>
          <a:lstStyle/>
          <a:p>
            <a:pPr algn="ctr" lvl="0">
              <a:buNone/>
            </a:pPr>
            <a:r>
              <a:rPr lang="en-US" sz="1300" b="1">
                <a:solidFill>
                  <a:srgbClr val="10120C"/>
                </a:solidFill>
                <a:latin typeface="Aptos"/>
              </a:rPr>
              <a:t>B</a:t>
            </a:r>
          </a:p>
        </p:txBody>
      </p:sp>
      <p:sp>
        <p:nvSpPr>
          <p:cNvPr id="159" name="Shape 159"/>
          <p:cNvSpPr/>
          <p:nvPr/>
        </p:nvSpPr>
        <p:spPr>
          <a:xfrm>
            <a:off x="713232" y="896112"/>
            <a:ext cx="2331720" cy="347472"/>
          </a:xfrm>
          <a:prstGeom prst="roundRect">
            <a:avLst/>
          </a:prstGeom>
          <a:solidFill>
            <a:srgbClr val="C7F15D"/>
          </a:solidFill>
          <a:ln>
            <a:noFill/>
          </a:ln>
        </p:spPr>
        <p:txBody>
          <a:bodyPr/>
          <a:lstStyle/>
          <a:p/>
        </p:txBody>
      </p:sp>
      <p:sp>
        <p:nvSpPr>
          <p:cNvPr id="160" name="TextBox 160"/>
          <p:cNvSpPr txBox="1"/>
          <p:nvPr/>
        </p:nvSpPr>
        <p:spPr>
          <a:xfrm>
            <a:off x="713232" y="946404"/>
            <a:ext cx="2331720" cy="228600"/>
          </a:xfrm>
          <a:prstGeom prst="rect">
            <a:avLst/>
          </a:prstGeom>
          <a:noFill/>
          <a:ln>
            <a:noFill/>
          </a:ln>
        </p:spPr>
        <p:txBody>
          <a:bodyPr lIns="0" rIns="0" tIns="0" bIns="0" wrap="square"/>
          <a:lstStyle/>
          <a:p>
            <a:pPr algn="ctr" lvl="0">
              <a:buNone/>
            </a:pPr>
            <a:r>
              <a:rPr lang="en-US" sz="1000" b="1">
                <a:solidFill>
                  <a:srgbClr val="10120C"/>
                </a:solidFill>
                <a:latin typeface="Aptos"/>
              </a:rPr>
              <a:t>Implementation Details</a:t>
            </a:r>
          </a:p>
        </p:txBody>
      </p:sp>
      <p:sp>
        <p:nvSpPr>
          <p:cNvPr id="161" name="TextBox 161"/>
          <p:cNvSpPr txBox="1"/>
          <p:nvPr/>
        </p:nvSpPr>
        <p:spPr>
          <a:xfrm>
            <a:off x="658368" y="1325880"/>
            <a:ext cx="7223760" cy="960120"/>
          </a:xfrm>
          <a:prstGeom prst="rect">
            <a:avLst/>
          </a:prstGeom>
          <a:noFill/>
          <a:ln>
            <a:noFill/>
          </a:ln>
        </p:spPr>
        <p:txBody>
          <a:bodyPr lIns="0" rIns="0" tIns="0" bIns="0" wrap="square"/>
          <a:lstStyle/>
          <a:p>
            <a:pPr algn="l" lvl="0">
              <a:buNone/>
            </a:pPr>
            <a:r>
              <a:rPr lang="en-US" sz="3100" b="1">
                <a:solidFill>
                  <a:srgbClr val="F4EAD6"/>
                </a:solidFill>
                <a:latin typeface="Georgia"/>
              </a:rPr>
              <a:t>How the HTML, CSS, JavaScript, and storage work together.</a:t>
            </a:r>
          </a:p>
        </p:txBody>
      </p:sp>
      <p:sp>
        <p:nvSpPr>
          <p:cNvPr id="142" name="Shape 142"/>
          <p:cNvSpPr/>
          <p:nvPr/>
        </p:nvSpPr>
        <p:spPr>
          <a:xfrm>
            <a:off x="658368" y="2084831"/>
            <a:ext cx="3474720" cy="2880360"/>
          </a:xfrm>
          <a:prstGeom prst="roundRect">
            <a:avLst/>
          </a:prstGeom>
          <a:solidFill>
            <a:srgbClr val="171912"/>
          </a:solidFill>
          <a:ln w="12700">
            <a:solidFill>
              <a:srgbClr val="3B3A2F"/>
            </a:solidFill>
          </a:ln>
        </p:spPr>
        <p:txBody>
          <a:bodyPr/>
          <a:lstStyle/>
          <a:p/>
        </p:txBody>
      </p:sp>
      <p:sp>
        <p:nvSpPr>
          <p:cNvPr id="143" name="Shape 143"/>
          <p:cNvSpPr/>
          <p:nvPr/>
        </p:nvSpPr>
        <p:spPr>
          <a:xfrm>
            <a:off x="841248" y="2267711"/>
            <a:ext cx="109728" cy="109728"/>
          </a:xfrm>
          <a:prstGeom prst="ellipse">
            <a:avLst/>
          </a:prstGeom>
          <a:solidFill>
            <a:srgbClr val="C7F15D"/>
          </a:solidFill>
          <a:ln>
            <a:noFill/>
          </a:ln>
        </p:spPr>
        <p:txBody>
          <a:bodyPr/>
          <a:lstStyle/>
          <a:p/>
        </p:txBody>
      </p:sp>
      <p:sp>
        <p:nvSpPr>
          <p:cNvPr id="144" name="TextBox 144"/>
          <p:cNvSpPr txBox="1"/>
          <p:nvPr/>
        </p:nvSpPr>
        <p:spPr>
          <a:xfrm>
            <a:off x="1042416" y="2203703"/>
            <a:ext cx="2907792" cy="365760"/>
          </a:xfrm>
          <a:prstGeom prst="rect">
            <a:avLst/>
          </a:prstGeom>
          <a:noFill/>
          <a:ln>
            <a:noFill/>
          </a:ln>
        </p:spPr>
        <p:txBody>
          <a:bodyPr lIns="0" rIns="0" tIns="0" bIns="0" wrap="square"/>
          <a:lstStyle/>
          <a:p>
            <a:pPr algn="l" lvl="0">
              <a:buNone/>
            </a:pPr>
            <a:r>
              <a:rPr lang="en-US" sz="1500" b="1">
                <a:solidFill>
                  <a:srgbClr val="F4EAD6"/>
                </a:solidFill>
                <a:latin typeface="Aptos"/>
              </a:rPr>
              <a:t>HTML Structure</a:t>
            </a:r>
          </a:p>
        </p:txBody>
      </p:sp>
      <p:sp>
        <p:nvSpPr>
          <p:cNvPr id="145" name="TextBox 145"/>
          <p:cNvSpPr txBox="1"/>
          <p:nvPr/>
        </p:nvSpPr>
        <p:spPr>
          <a:xfrm>
            <a:off x="987552" y="2706623"/>
            <a:ext cx="2907792" cy="2057400"/>
          </a:xfrm>
          <a:prstGeom prst="rect">
            <a:avLst/>
          </a:prstGeom>
          <a:noFill/>
          <a:ln>
            <a:noFill/>
          </a:ln>
        </p:spPr>
        <p:txBody>
          <a:bodyPr lIns="0" rIns="0" tIns="0" bIns="0" wrap="square"/>
          <a:lstStyle/>
          <a:p>
            <a:pPr algn="l" lvl="0">
              <a:buChar char="-"/>
            </a:pPr>
            <a:r>
              <a:rPr lang="en-US" sz="1100">
                <a:solidFill>
                  <a:srgbClr val="D8CDB5"/>
                </a:solidFill>
                <a:latin typeface="Aptos"/>
              </a:rPr>
              <a:t>Four static pages</a:t>
            </a:r>
          </a:p>
          <a:p>
            <a:pPr algn="l" lvl="0">
              <a:buChar char="-"/>
            </a:pPr>
            <a:r>
              <a:rPr lang="en-US" sz="1100">
                <a:solidFill>
                  <a:srgbClr val="D8CDB5"/>
                </a:solidFill>
                <a:latin typeface="Aptos"/>
              </a:rPr>
              <a:t>Shared header and footer pattern</a:t>
            </a:r>
          </a:p>
          <a:p>
            <a:pPr algn="l" lvl="0">
              <a:buChar char="-"/>
            </a:pPr>
            <a:r>
              <a:rPr lang="en-US" sz="1100">
                <a:solidFill>
                  <a:srgbClr val="D8CDB5"/>
                </a:solidFill>
                <a:latin typeface="Aptos"/>
              </a:rPr>
              <a:t>UAS form with accessible labels</a:t>
            </a:r>
          </a:p>
          <a:p>
            <a:pPr algn="l" lvl="0">
              <a:buChar char="-"/>
            </a:pPr>
            <a:r>
              <a:rPr lang="en-US" sz="1100">
                <a:solidFill>
                  <a:srgbClr val="D8CDB5"/>
                </a:solidFill>
                <a:latin typeface="Aptos"/>
              </a:rPr>
              <a:t>Playlist modal markup</a:t>
            </a:r>
          </a:p>
        </p:txBody>
      </p:sp>
      <p:sp>
        <p:nvSpPr>
          <p:cNvPr id="146" name="Shape 146"/>
          <p:cNvSpPr/>
          <p:nvPr/>
        </p:nvSpPr>
        <p:spPr>
          <a:xfrm>
            <a:off x="4370832" y="2084831"/>
            <a:ext cx="3474720" cy="2880360"/>
          </a:xfrm>
          <a:prstGeom prst="roundRect">
            <a:avLst/>
          </a:prstGeom>
          <a:solidFill>
            <a:srgbClr val="171912"/>
          </a:solidFill>
          <a:ln w="12700">
            <a:solidFill>
              <a:srgbClr val="3B3A2F"/>
            </a:solidFill>
          </a:ln>
        </p:spPr>
        <p:txBody>
          <a:bodyPr/>
          <a:lstStyle/>
          <a:p/>
        </p:txBody>
      </p:sp>
      <p:sp>
        <p:nvSpPr>
          <p:cNvPr id="147" name="Shape 147"/>
          <p:cNvSpPr/>
          <p:nvPr/>
        </p:nvSpPr>
        <p:spPr>
          <a:xfrm>
            <a:off x="4553712" y="2267711"/>
            <a:ext cx="109728" cy="109728"/>
          </a:xfrm>
          <a:prstGeom prst="ellipse">
            <a:avLst/>
          </a:prstGeom>
          <a:solidFill>
            <a:srgbClr val="D8AE53"/>
          </a:solidFill>
          <a:ln>
            <a:noFill/>
          </a:ln>
        </p:spPr>
        <p:txBody>
          <a:bodyPr/>
          <a:lstStyle/>
          <a:p/>
        </p:txBody>
      </p:sp>
      <p:sp>
        <p:nvSpPr>
          <p:cNvPr id="148" name="TextBox 148"/>
          <p:cNvSpPr txBox="1"/>
          <p:nvPr/>
        </p:nvSpPr>
        <p:spPr>
          <a:xfrm>
            <a:off x="4754880" y="2203703"/>
            <a:ext cx="2907792" cy="365760"/>
          </a:xfrm>
          <a:prstGeom prst="rect">
            <a:avLst/>
          </a:prstGeom>
          <a:noFill/>
          <a:ln>
            <a:noFill/>
          </a:ln>
        </p:spPr>
        <p:txBody>
          <a:bodyPr lIns="0" rIns="0" tIns="0" bIns="0" wrap="square"/>
          <a:lstStyle/>
          <a:p>
            <a:pPr algn="l" lvl="0">
              <a:buNone/>
            </a:pPr>
            <a:r>
              <a:rPr lang="en-US" sz="1500" b="1">
                <a:solidFill>
                  <a:srgbClr val="F4EAD6"/>
                </a:solidFill>
                <a:latin typeface="Aptos"/>
              </a:rPr>
              <a:t>CSS Architecture</a:t>
            </a:r>
          </a:p>
        </p:txBody>
      </p:sp>
      <p:sp>
        <p:nvSpPr>
          <p:cNvPr id="149" name="TextBox 149"/>
          <p:cNvSpPr txBox="1"/>
          <p:nvPr/>
        </p:nvSpPr>
        <p:spPr>
          <a:xfrm>
            <a:off x="4700016" y="2706623"/>
            <a:ext cx="2907792" cy="2057400"/>
          </a:xfrm>
          <a:prstGeom prst="rect">
            <a:avLst/>
          </a:prstGeom>
          <a:noFill/>
          <a:ln>
            <a:noFill/>
          </a:ln>
        </p:spPr>
        <p:txBody>
          <a:bodyPr lIns="0" rIns="0" tIns="0" bIns="0" wrap="square"/>
          <a:lstStyle/>
          <a:p>
            <a:pPr algn="l" lvl="0">
              <a:buChar char="-"/>
            </a:pPr>
            <a:r>
              <a:rPr lang="en-US" sz="1100">
                <a:solidFill>
                  <a:srgbClr val="D8CDB5"/>
                </a:solidFill>
                <a:latin typeface="Aptos"/>
              </a:rPr>
              <a:t>Single stylesheet</a:t>
            </a:r>
          </a:p>
          <a:p>
            <a:pPr algn="l" lvl="0">
              <a:buChar char="-"/>
            </a:pPr>
            <a:r>
              <a:rPr lang="en-US" sz="1100">
                <a:solidFill>
                  <a:srgbClr val="D8CDB5"/>
                </a:solidFill>
                <a:latin typeface="Aptos"/>
              </a:rPr>
              <a:t>Design tokens in :root</a:t>
            </a:r>
          </a:p>
          <a:p>
            <a:pPr algn="l" lvl="0">
              <a:buChar char="-"/>
            </a:pPr>
            <a:r>
              <a:rPr lang="en-US" sz="1100">
                <a:solidFill>
                  <a:srgbClr val="D8CDB5"/>
                </a:solidFill>
                <a:latin typeface="Aptos"/>
              </a:rPr>
              <a:t>Reusable cards, buttons, forms</a:t>
            </a:r>
          </a:p>
          <a:p>
            <a:pPr algn="l" lvl="0">
              <a:buChar char="-"/>
            </a:pPr>
            <a:r>
              <a:rPr lang="en-US" sz="1100">
                <a:solidFill>
                  <a:srgbClr val="D8CDB5"/>
                </a:solidFill>
                <a:latin typeface="Aptos"/>
              </a:rPr>
              <a:t>Responsive breakpoints at 980px and 680px</a:t>
            </a:r>
          </a:p>
        </p:txBody>
      </p:sp>
      <p:sp>
        <p:nvSpPr>
          <p:cNvPr id="150" name="Shape 150"/>
          <p:cNvSpPr/>
          <p:nvPr/>
        </p:nvSpPr>
        <p:spPr>
          <a:xfrm>
            <a:off x="8083296" y="2084831"/>
            <a:ext cx="3493008" cy="2880360"/>
          </a:xfrm>
          <a:prstGeom prst="roundRect">
            <a:avLst/>
          </a:prstGeom>
          <a:solidFill>
            <a:srgbClr val="171912"/>
          </a:solidFill>
          <a:ln w="12700">
            <a:solidFill>
              <a:srgbClr val="3B3A2F"/>
            </a:solidFill>
          </a:ln>
        </p:spPr>
        <p:txBody>
          <a:bodyPr/>
          <a:lstStyle/>
          <a:p/>
        </p:txBody>
      </p:sp>
      <p:sp>
        <p:nvSpPr>
          <p:cNvPr id="151" name="Shape 151"/>
          <p:cNvSpPr/>
          <p:nvPr/>
        </p:nvSpPr>
        <p:spPr>
          <a:xfrm>
            <a:off x="8266176" y="2267711"/>
            <a:ext cx="109728" cy="109728"/>
          </a:xfrm>
          <a:prstGeom prst="ellipse">
            <a:avLst/>
          </a:prstGeom>
          <a:solidFill>
            <a:srgbClr val="7FC6B0"/>
          </a:solidFill>
          <a:ln>
            <a:noFill/>
          </a:ln>
        </p:spPr>
        <p:txBody>
          <a:bodyPr/>
          <a:lstStyle/>
          <a:p/>
        </p:txBody>
      </p:sp>
      <p:sp>
        <p:nvSpPr>
          <p:cNvPr id="152" name="TextBox 152"/>
          <p:cNvSpPr txBox="1"/>
          <p:nvPr/>
        </p:nvSpPr>
        <p:spPr>
          <a:xfrm>
            <a:off x="8467344" y="2203703"/>
            <a:ext cx="2926080" cy="365760"/>
          </a:xfrm>
          <a:prstGeom prst="rect">
            <a:avLst/>
          </a:prstGeom>
          <a:noFill/>
          <a:ln>
            <a:noFill/>
          </a:ln>
        </p:spPr>
        <p:txBody>
          <a:bodyPr lIns="0" rIns="0" tIns="0" bIns="0" wrap="square"/>
          <a:lstStyle/>
          <a:p>
            <a:pPr algn="l" lvl="0">
              <a:buNone/>
            </a:pPr>
            <a:r>
              <a:rPr lang="en-US" sz="1500" b="1">
                <a:solidFill>
                  <a:srgbClr val="F4EAD6"/>
                </a:solidFill>
                <a:latin typeface="Aptos"/>
              </a:rPr>
              <a:t>JavaScript Logic</a:t>
            </a:r>
          </a:p>
        </p:txBody>
      </p:sp>
      <p:sp>
        <p:nvSpPr>
          <p:cNvPr id="153" name="TextBox 153"/>
          <p:cNvSpPr txBox="1"/>
          <p:nvPr/>
        </p:nvSpPr>
        <p:spPr>
          <a:xfrm>
            <a:off x="8412480" y="2706623"/>
            <a:ext cx="2926080" cy="2057400"/>
          </a:xfrm>
          <a:prstGeom prst="rect">
            <a:avLst/>
          </a:prstGeom>
          <a:noFill/>
          <a:ln>
            <a:noFill/>
          </a:ln>
        </p:spPr>
        <p:txBody>
          <a:bodyPr lIns="0" rIns="0" tIns="0" bIns="0" wrap="square"/>
          <a:lstStyle/>
          <a:p>
            <a:pPr algn="l" lvl="0">
              <a:buChar char="-"/>
            </a:pPr>
            <a:r>
              <a:rPr lang="en-US" sz="1100">
                <a:solidFill>
                  <a:srgbClr val="D8CDB5"/>
                </a:solidFill>
                <a:latin typeface="Aptos"/>
              </a:rPr>
              <a:t>DOMContentLoaded setup functions</a:t>
            </a:r>
          </a:p>
          <a:p>
            <a:pPr algn="l" lvl="0">
              <a:buChar char="-"/>
            </a:pPr>
            <a:r>
              <a:rPr lang="en-US" sz="1100">
                <a:solidFill>
                  <a:srgbClr val="D8CDB5"/>
                </a:solidFill>
                <a:latin typeface="Aptos"/>
              </a:rPr>
              <a:t>Modal focus management</a:t>
            </a:r>
          </a:p>
          <a:p>
            <a:pPr algn="l" lvl="0">
              <a:buChar char="-"/>
            </a:pPr>
            <a:r>
              <a:rPr lang="en-US" sz="1100">
                <a:solidFill>
                  <a:srgbClr val="D8CDB5"/>
                </a:solidFill>
                <a:latin typeface="Aptos"/>
              </a:rPr>
              <a:t>Library search/filter/sort</a:t>
            </a:r>
          </a:p>
          <a:p>
            <a:pPr algn="l" lvl="0">
              <a:buChar char="-"/>
            </a:pPr>
            <a:r>
              <a:rPr lang="en-US" sz="1100">
                <a:solidFill>
                  <a:srgbClr val="D8CDB5"/>
                </a:solidFill>
                <a:latin typeface="Aptos"/>
              </a:rPr>
              <a:t>localStorage save and restore</a:t>
            </a:r>
          </a:p>
        </p:txBody>
      </p:sp>
      <p:sp>
        <p:nvSpPr>
          <p:cNvPr id="162" name="TextBox 162"/>
          <p:cNvSpPr txBox="1"/>
          <p:nvPr/>
        </p:nvSpPr>
        <p:spPr>
          <a:xfrm>
            <a:off x="658368" y="6446520"/>
            <a:ext cx="5669280" cy="219456"/>
          </a:xfrm>
          <a:prstGeom prst="rect">
            <a:avLst/>
          </a:prstGeom>
          <a:noFill/>
          <a:ln>
            <a:noFill/>
          </a:ln>
        </p:spPr>
        <p:txBody>
          <a:bodyPr lIns="0" rIns="0" tIns="0" bIns="0" wrap="square"/>
          <a:lstStyle/>
          <a:p>
            <a:pPr algn="l" lvl="0">
              <a:buNone/>
            </a:pPr>
            <a:r>
              <a:rPr lang="en-US" sz="800">
                <a:solidFill>
                  <a:srgbClr val="9F9787"/>
                </a:solidFill>
                <a:latin typeface="Aptos"/>
              </a:rPr>
              <a:t>Brilliant's Music Universe - UAS Web Client Development</a:t>
            </a:r>
          </a:p>
        </p:txBody>
      </p:sp>
      <p:sp>
        <p:nvSpPr>
          <p:cNvPr id="163" name="TextBox 163"/>
          <p:cNvSpPr txBox="1"/>
          <p:nvPr/>
        </p:nvSpPr>
        <p:spPr>
          <a:xfrm>
            <a:off x="11201400" y="6446520"/>
            <a:ext cx="347472" cy="219456"/>
          </a:xfrm>
          <a:prstGeom prst="rect">
            <a:avLst/>
          </a:prstGeom>
          <a:noFill/>
          <a:ln>
            <a:noFill/>
          </a:ln>
        </p:spPr>
        <p:txBody>
          <a:bodyPr lIns="0" rIns="0" tIns="0" bIns="0" wrap="square"/>
          <a:lstStyle/>
          <a:p>
            <a:pPr algn="r" lvl="0">
              <a:buNone/>
            </a:pPr>
            <a:r>
              <a:rPr lang="en-US" sz="800">
                <a:solidFill>
                  <a:srgbClr val="9F9787"/>
                </a:solidFill>
                <a:latin typeface="Apto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Shape 199"/>
          <p:cNvSpPr/>
          <p:nvPr/>
        </p:nvSpPr>
        <p:spPr>
          <a:xfrm>
            <a:off x="0" y="0"/>
            <a:ext cx="12192000" cy="6858000"/>
          </a:xfrm>
          <a:prstGeom prst="rect">
            <a:avLst/>
          </a:prstGeom>
          <a:solidFill>
            <a:srgbClr val="0D0E0B"/>
          </a:solidFill>
          <a:ln>
            <a:noFill/>
          </a:ln>
        </p:spPr>
        <p:txBody>
          <a:bodyPr/>
          <a:lstStyle/>
          <a:p/>
        </p:txBody>
      </p:sp>
      <p:sp>
        <p:nvSpPr>
          <p:cNvPr id="200" name="Shape 200"/>
          <p:cNvSpPr/>
          <p:nvPr/>
        </p:nvSpPr>
        <p:spPr>
          <a:xfrm>
            <a:off x="8549640" y="-228600"/>
            <a:ext cx="3291840" cy="2377440"/>
          </a:xfrm>
          <a:prstGeom prst="ellipse">
            <a:avLst/>
          </a:prstGeom>
          <a:solidFill>
            <a:srgbClr val="162018"/>
          </a:solidFill>
          <a:ln>
            <a:noFill/>
          </a:ln>
        </p:spPr>
        <p:txBody>
          <a:bodyPr/>
          <a:lstStyle/>
          <a:p/>
        </p:txBody>
      </p:sp>
      <p:sp>
        <p:nvSpPr>
          <p:cNvPr id="201" name="Shape 201"/>
          <p:cNvSpPr/>
          <p:nvPr/>
        </p:nvSpPr>
        <p:spPr>
          <a:xfrm>
            <a:off x="-594360" y="4663440"/>
            <a:ext cx="2926080" cy="2011680"/>
          </a:xfrm>
          <a:prstGeom prst="ellipse">
            <a:avLst/>
          </a:prstGeom>
          <a:solidFill>
            <a:srgbClr val="1B2416"/>
          </a:solidFill>
          <a:ln>
            <a:noFill/>
          </a:ln>
        </p:spPr>
        <p:txBody>
          <a:bodyPr/>
          <a:lstStyle/>
          <a:p/>
        </p:txBody>
      </p:sp>
      <p:sp>
        <p:nvSpPr>
          <p:cNvPr id="202" name="Shape 202"/>
          <p:cNvSpPr/>
          <p:nvPr/>
        </p:nvSpPr>
        <p:spPr>
          <a:xfrm>
            <a:off x="658368" y="530352"/>
            <a:ext cx="530352" cy="530352"/>
          </a:xfrm>
          <a:prstGeom prst="ellipse">
            <a:avLst/>
          </a:prstGeom>
          <a:solidFill>
            <a:srgbClr val="C7F15D"/>
          </a:solidFill>
          <a:ln>
            <a:noFill/>
          </a:ln>
        </p:spPr>
        <p:txBody>
          <a:bodyPr/>
          <a:lstStyle/>
          <a:p/>
        </p:txBody>
      </p:sp>
      <p:sp>
        <p:nvSpPr>
          <p:cNvPr id="203" name="TextBox 203"/>
          <p:cNvSpPr txBox="1"/>
          <p:nvPr/>
        </p:nvSpPr>
        <p:spPr>
          <a:xfrm>
            <a:off x="813816" y="649224"/>
            <a:ext cx="237744" cy="237744"/>
          </a:xfrm>
          <a:prstGeom prst="rect">
            <a:avLst/>
          </a:prstGeom>
          <a:noFill/>
          <a:ln>
            <a:noFill/>
          </a:ln>
        </p:spPr>
        <p:txBody>
          <a:bodyPr lIns="0" rIns="0" tIns="0" bIns="0" wrap="square"/>
          <a:lstStyle/>
          <a:p>
            <a:pPr algn="ctr" lvl="0">
              <a:buNone/>
            </a:pPr>
            <a:r>
              <a:rPr lang="en-US" sz="1300" b="1">
                <a:solidFill>
                  <a:srgbClr val="10120C"/>
                </a:solidFill>
                <a:latin typeface="Aptos"/>
              </a:rPr>
              <a:t>B</a:t>
            </a:r>
          </a:p>
        </p:txBody>
      </p:sp>
      <p:sp>
        <p:nvSpPr>
          <p:cNvPr id="204" name="Shape 204"/>
          <p:cNvSpPr/>
          <p:nvPr/>
        </p:nvSpPr>
        <p:spPr>
          <a:xfrm>
            <a:off x="713232" y="896112"/>
            <a:ext cx="2331720" cy="347472"/>
          </a:xfrm>
          <a:prstGeom prst="roundRect">
            <a:avLst/>
          </a:prstGeom>
          <a:solidFill>
            <a:srgbClr val="C7F15D"/>
          </a:solidFill>
          <a:ln>
            <a:noFill/>
          </a:ln>
        </p:spPr>
        <p:txBody>
          <a:bodyPr/>
          <a:lstStyle/>
          <a:p/>
        </p:txBody>
      </p:sp>
      <p:sp>
        <p:nvSpPr>
          <p:cNvPr id="205" name="TextBox 205"/>
          <p:cNvSpPr txBox="1"/>
          <p:nvPr/>
        </p:nvSpPr>
        <p:spPr>
          <a:xfrm>
            <a:off x="713232" y="946404"/>
            <a:ext cx="2331720" cy="228600"/>
          </a:xfrm>
          <a:prstGeom prst="rect">
            <a:avLst/>
          </a:prstGeom>
          <a:noFill/>
          <a:ln>
            <a:noFill/>
          </a:ln>
        </p:spPr>
        <p:txBody>
          <a:bodyPr lIns="0" rIns="0" tIns="0" bIns="0" wrap="square"/>
          <a:lstStyle/>
          <a:p>
            <a:pPr algn="ctr" lvl="0">
              <a:buNone/>
            </a:pPr>
            <a:r>
              <a:rPr lang="en-US" sz="1000" b="1">
                <a:solidFill>
                  <a:srgbClr val="10120C"/>
                </a:solidFill>
                <a:latin typeface="Aptos"/>
              </a:rPr>
              <a:t>SCREENSHOTS</a:t>
            </a:r>
          </a:p>
        </p:txBody>
      </p:sp>
      <p:sp>
        <p:nvSpPr>
          <p:cNvPr id="206" name="TextBox 206"/>
          <p:cNvSpPr txBox="1"/>
          <p:nvPr/>
        </p:nvSpPr>
        <p:spPr>
          <a:xfrm>
            <a:off x="658368" y="1325880"/>
            <a:ext cx="7223760" cy="960120"/>
          </a:xfrm>
          <a:prstGeom prst="rect">
            <a:avLst/>
          </a:prstGeom>
          <a:noFill/>
          <a:ln>
            <a:noFill/>
          </a:ln>
        </p:spPr>
        <p:txBody>
          <a:bodyPr lIns="0" rIns="0" tIns="0" bIns="0" wrap="square"/>
          <a:lstStyle/>
          <a:p>
            <a:pPr algn="l" lvl="0">
              <a:buNone/>
            </a:pPr>
            <a:r>
              <a:rPr lang="en-US" sz="3100" b="1">
                <a:solidFill>
                  <a:srgbClr val="F4EAD6"/>
                </a:solidFill>
                <a:latin typeface="Georgia"/>
              </a:rPr>
              <a:t>Editable placeholders for website evidence.</a:t>
            </a:r>
          </a:p>
        </p:txBody>
      </p:sp>
      <p:sp>
        <p:nvSpPr>
          <p:cNvPr id="164" name="Shape 164"/>
          <p:cNvSpPr/>
          <p:nvPr/>
        </p:nvSpPr>
        <p:spPr>
          <a:xfrm>
            <a:off x="658368" y="1847088"/>
            <a:ext cx="3429000" cy="1481328"/>
          </a:xfrm>
          <a:prstGeom prst="roundRect">
            <a:avLst/>
          </a:prstGeom>
          <a:solidFill>
            <a:srgbClr val="202219"/>
          </a:solidFill>
          <a:ln w="12700">
            <a:solidFill>
              <a:srgbClr val="3B3A2F"/>
            </a:solidFill>
          </a:ln>
        </p:spPr>
        <p:txBody>
          <a:bodyPr/>
          <a:lstStyle/>
          <a:p/>
        </p:txBody>
      </p:sp>
      <p:sp>
        <p:nvSpPr>
          <p:cNvPr id="165" name="Shape 165"/>
          <p:cNvSpPr/>
          <p:nvPr/>
        </p:nvSpPr>
        <p:spPr>
          <a:xfrm>
            <a:off x="768096" y="1956816"/>
            <a:ext cx="3209544" cy="228600"/>
          </a:xfrm>
          <a:prstGeom prst="roundRect">
            <a:avLst/>
          </a:prstGeom>
          <a:solidFill>
            <a:srgbClr val="10110D"/>
          </a:solidFill>
          <a:ln>
            <a:noFill/>
          </a:ln>
        </p:spPr>
        <p:txBody>
          <a:bodyPr/>
          <a:lstStyle/>
          <a:p/>
        </p:txBody>
      </p:sp>
      <p:sp>
        <p:nvSpPr>
          <p:cNvPr id="166" name="Shape 166"/>
          <p:cNvSpPr/>
          <p:nvPr/>
        </p:nvSpPr>
        <p:spPr>
          <a:xfrm>
            <a:off x="877824" y="2029968"/>
            <a:ext cx="73152" cy="73152"/>
          </a:xfrm>
          <a:prstGeom prst="ellipse">
            <a:avLst/>
          </a:prstGeom>
          <a:solidFill>
            <a:srgbClr val="E67D62"/>
          </a:solidFill>
          <a:ln>
            <a:noFill/>
          </a:ln>
        </p:spPr>
        <p:txBody>
          <a:bodyPr/>
          <a:lstStyle/>
          <a:p/>
        </p:txBody>
      </p:sp>
      <p:sp>
        <p:nvSpPr>
          <p:cNvPr id="167" name="Shape 167"/>
          <p:cNvSpPr/>
          <p:nvPr/>
        </p:nvSpPr>
        <p:spPr>
          <a:xfrm>
            <a:off x="1014984" y="2029968"/>
            <a:ext cx="73152" cy="73152"/>
          </a:xfrm>
          <a:prstGeom prst="ellipse">
            <a:avLst/>
          </a:prstGeom>
          <a:solidFill>
            <a:srgbClr val="D8AE53"/>
          </a:solidFill>
          <a:ln>
            <a:noFill/>
          </a:ln>
        </p:spPr>
        <p:txBody>
          <a:bodyPr/>
          <a:lstStyle/>
          <a:p/>
        </p:txBody>
      </p:sp>
      <p:sp>
        <p:nvSpPr>
          <p:cNvPr id="168" name="Shape 168"/>
          <p:cNvSpPr/>
          <p:nvPr/>
        </p:nvSpPr>
        <p:spPr>
          <a:xfrm>
            <a:off x="1152144" y="2029968"/>
            <a:ext cx="73152" cy="73152"/>
          </a:xfrm>
          <a:prstGeom prst="ellipse">
            <a:avLst/>
          </a:prstGeom>
          <a:solidFill>
            <a:srgbClr val="C7F15D"/>
          </a:solidFill>
          <a:ln>
            <a:noFill/>
          </a:ln>
        </p:spPr>
        <p:txBody>
          <a:bodyPr/>
          <a:lstStyle/>
          <a:p/>
        </p:txBody>
      </p:sp>
      <p:sp>
        <p:nvSpPr>
          <p:cNvPr id="169" name="TextBox 169"/>
          <p:cNvSpPr txBox="1"/>
          <p:nvPr/>
        </p:nvSpPr>
        <p:spPr>
          <a:xfrm>
            <a:off x="841248" y="2267712.0"/>
            <a:ext cx="3063240" cy="320040"/>
          </a:xfrm>
          <a:prstGeom prst="rect">
            <a:avLst/>
          </a:prstGeom>
          <a:noFill/>
          <a:ln>
            <a:noFill/>
          </a:ln>
        </p:spPr>
        <p:txBody>
          <a:bodyPr lIns="0" rIns="0" tIns="0" bIns="0" wrap="square"/>
          <a:lstStyle/>
          <a:p>
            <a:pPr algn="ctr" lvl="0">
              <a:buNone/>
            </a:pPr>
            <a:r>
              <a:rPr lang="en-US" sz="1900" b="1">
                <a:solidFill>
                  <a:srgbClr val="C7F15D"/>
                </a:solidFill>
                <a:latin typeface="Aptos"/>
              </a:rPr>
              <a:t>HOME</a:t>
            </a:r>
          </a:p>
        </p:txBody>
      </p:sp>
      <p:sp>
        <p:nvSpPr>
          <p:cNvPr id="170" name="TextBox 170"/>
          <p:cNvSpPr txBox="1"/>
          <p:nvPr/>
        </p:nvSpPr>
        <p:spPr>
          <a:xfrm>
            <a:off x="914400" y="2606040.0"/>
            <a:ext cx="2916936" cy="310896"/>
          </a:xfrm>
          <a:prstGeom prst="rect">
            <a:avLst/>
          </a:prstGeom>
          <a:noFill/>
          <a:ln>
            <a:noFill/>
          </a:ln>
        </p:spPr>
        <p:txBody>
          <a:bodyPr lIns="0" rIns="0" tIns="0" bIns="0" wrap="square"/>
          <a:lstStyle/>
          <a:p>
            <a:pPr algn="ctr" lvl="0">
              <a:buNone/>
            </a:pPr>
            <a:r>
              <a:rPr lang="en-US" sz="900">
                <a:solidFill>
                  <a:srgbClr val="9F9787"/>
                </a:solidFill>
                <a:latin typeface="Aptos"/>
              </a:rPr>
              <a:t>Replace with homepage screenshot if needed.</a:t>
            </a:r>
          </a:p>
        </p:txBody>
      </p:sp>
      <p:sp>
        <p:nvSpPr>
          <p:cNvPr id="171" name="Shape 171"/>
          <p:cNvSpPr/>
          <p:nvPr/>
        </p:nvSpPr>
        <p:spPr>
          <a:xfrm>
            <a:off x="4315968" y="1847088"/>
            <a:ext cx="3429000" cy="1481328"/>
          </a:xfrm>
          <a:prstGeom prst="roundRect">
            <a:avLst/>
          </a:prstGeom>
          <a:solidFill>
            <a:srgbClr val="202219"/>
          </a:solidFill>
          <a:ln w="12700">
            <a:solidFill>
              <a:srgbClr val="3B3A2F"/>
            </a:solidFill>
          </a:ln>
        </p:spPr>
        <p:txBody>
          <a:bodyPr/>
          <a:lstStyle/>
          <a:p/>
        </p:txBody>
      </p:sp>
      <p:sp>
        <p:nvSpPr>
          <p:cNvPr id="172" name="Shape 172"/>
          <p:cNvSpPr/>
          <p:nvPr/>
        </p:nvSpPr>
        <p:spPr>
          <a:xfrm>
            <a:off x="4425696" y="1956816"/>
            <a:ext cx="3209544" cy="228600"/>
          </a:xfrm>
          <a:prstGeom prst="roundRect">
            <a:avLst/>
          </a:prstGeom>
          <a:solidFill>
            <a:srgbClr val="10110D"/>
          </a:solidFill>
          <a:ln>
            <a:noFill/>
          </a:ln>
        </p:spPr>
        <p:txBody>
          <a:bodyPr/>
          <a:lstStyle/>
          <a:p/>
        </p:txBody>
      </p:sp>
      <p:sp>
        <p:nvSpPr>
          <p:cNvPr id="173" name="Shape 173"/>
          <p:cNvSpPr/>
          <p:nvPr/>
        </p:nvSpPr>
        <p:spPr>
          <a:xfrm>
            <a:off x="4535424" y="2029968"/>
            <a:ext cx="73152" cy="73152"/>
          </a:xfrm>
          <a:prstGeom prst="ellipse">
            <a:avLst/>
          </a:prstGeom>
          <a:solidFill>
            <a:srgbClr val="E67D62"/>
          </a:solidFill>
          <a:ln>
            <a:noFill/>
          </a:ln>
        </p:spPr>
        <p:txBody>
          <a:bodyPr/>
          <a:lstStyle/>
          <a:p/>
        </p:txBody>
      </p:sp>
      <p:sp>
        <p:nvSpPr>
          <p:cNvPr id="174" name="Shape 174"/>
          <p:cNvSpPr/>
          <p:nvPr/>
        </p:nvSpPr>
        <p:spPr>
          <a:xfrm>
            <a:off x="4672584" y="2029968"/>
            <a:ext cx="73152" cy="73152"/>
          </a:xfrm>
          <a:prstGeom prst="ellipse">
            <a:avLst/>
          </a:prstGeom>
          <a:solidFill>
            <a:srgbClr val="D8AE53"/>
          </a:solidFill>
          <a:ln>
            <a:noFill/>
          </a:ln>
        </p:spPr>
        <p:txBody>
          <a:bodyPr/>
          <a:lstStyle/>
          <a:p/>
        </p:txBody>
      </p:sp>
      <p:sp>
        <p:nvSpPr>
          <p:cNvPr id="175" name="Shape 175"/>
          <p:cNvSpPr/>
          <p:nvPr/>
        </p:nvSpPr>
        <p:spPr>
          <a:xfrm>
            <a:off x="4809744" y="2029968"/>
            <a:ext cx="73152" cy="73152"/>
          </a:xfrm>
          <a:prstGeom prst="ellipse">
            <a:avLst/>
          </a:prstGeom>
          <a:solidFill>
            <a:srgbClr val="C7F15D"/>
          </a:solidFill>
          <a:ln>
            <a:noFill/>
          </a:ln>
        </p:spPr>
        <p:txBody>
          <a:bodyPr/>
          <a:lstStyle/>
          <a:p/>
        </p:txBody>
      </p:sp>
      <p:sp>
        <p:nvSpPr>
          <p:cNvPr id="176" name="TextBox 176"/>
          <p:cNvSpPr txBox="1"/>
          <p:nvPr/>
        </p:nvSpPr>
        <p:spPr>
          <a:xfrm>
            <a:off x="4498848" y="2267712.0"/>
            <a:ext cx="3063240" cy="320040"/>
          </a:xfrm>
          <a:prstGeom prst="rect">
            <a:avLst/>
          </a:prstGeom>
          <a:noFill/>
          <a:ln>
            <a:noFill/>
          </a:ln>
        </p:spPr>
        <p:txBody>
          <a:bodyPr lIns="0" rIns="0" tIns="0" bIns="0" wrap="square"/>
          <a:lstStyle/>
          <a:p>
            <a:pPr algn="ctr" lvl="0">
              <a:buNone/>
            </a:pPr>
            <a:r>
              <a:rPr lang="en-US" sz="1900" b="1">
                <a:solidFill>
                  <a:srgbClr val="C7F15D"/>
                </a:solidFill>
                <a:latin typeface="Aptos"/>
              </a:rPr>
              <a:t>ABOUT</a:t>
            </a:r>
          </a:p>
        </p:txBody>
      </p:sp>
      <p:sp>
        <p:nvSpPr>
          <p:cNvPr id="177" name="TextBox 177"/>
          <p:cNvSpPr txBox="1"/>
          <p:nvPr/>
        </p:nvSpPr>
        <p:spPr>
          <a:xfrm>
            <a:off x="4572000" y="2606040.0"/>
            <a:ext cx="2916936" cy="310896"/>
          </a:xfrm>
          <a:prstGeom prst="rect">
            <a:avLst/>
          </a:prstGeom>
          <a:noFill/>
          <a:ln>
            <a:noFill/>
          </a:ln>
        </p:spPr>
        <p:txBody>
          <a:bodyPr lIns="0" rIns="0" tIns="0" bIns="0" wrap="square"/>
          <a:lstStyle/>
          <a:p>
            <a:pPr algn="ctr" lvl="0">
              <a:buNone/>
            </a:pPr>
            <a:r>
              <a:rPr lang="en-US" sz="900">
                <a:solidFill>
                  <a:srgbClr val="9F9787"/>
                </a:solidFill>
                <a:latin typeface="Aptos"/>
              </a:rPr>
              <a:t>Replace with about page screenshot if needed.</a:t>
            </a:r>
          </a:p>
        </p:txBody>
      </p:sp>
      <p:sp>
        <p:nvSpPr>
          <p:cNvPr id="178" name="Shape 178"/>
          <p:cNvSpPr/>
          <p:nvPr/>
        </p:nvSpPr>
        <p:spPr>
          <a:xfrm>
            <a:off x="7973568" y="1847088"/>
            <a:ext cx="3429000" cy="1481328"/>
          </a:xfrm>
          <a:prstGeom prst="roundRect">
            <a:avLst/>
          </a:prstGeom>
          <a:solidFill>
            <a:srgbClr val="202219"/>
          </a:solidFill>
          <a:ln w="12700">
            <a:solidFill>
              <a:srgbClr val="3B3A2F"/>
            </a:solidFill>
          </a:ln>
        </p:spPr>
        <p:txBody>
          <a:bodyPr/>
          <a:lstStyle/>
          <a:p/>
        </p:txBody>
      </p:sp>
      <p:sp>
        <p:nvSpPr>
          <p:cNvPr id="179" name="Shape 179"/>
          <p:cNvSpPr/>
          <p:nvPr/>
        </p:nvSpPr>
        <p:spPr>
          <a:xfrm>
            <a:off x="8083296" y="1956816"/>
            <a:ext cx="3209544" cy="228600"/>
          </a:xfrm>
          <a:prstGeom prst="roundRect">
            <a:avLst/>
          </a:prstGeom>
          <a:solidFill>
            <a:srgbClr val="10110D"/>
          </a:solidFill>
          <a:ln>
            <a:noFill/>
          </a:ln>
        </p:spPr>
        <p:txBody>
          <a:bodyPr/>
          <a:lstStyle/>
          <a:p/>
        </p:txBody>
      </p:sp>
      <p:sp>
        <p:nvSpPr>
          <p:cNvPr id="180" name="Shape 180"/>
          <p:cNvSpPr/>
          <p:nvPr/>
        </p:nvSpPr>
        <p:spPr>
          <a:xfrm>
            <a:off x="8193024" y="2029968"/>
            <a:ext cx="73152" cy="73152"/>
          </a:xfrm>
          <a:prstGeom prst="ellipse">
            <a:avLst/>
          </a:prstGeom>
          <a:solidFill>
            <a:srgbClr val="E67D62"/>
          </a:solidFill>
          <a:ln>
            <a:noFill/>
          </a:ln>
        </p:spPr>
        <p:txBody>
          <a:bodyPr/>
          <a:lstStyle/>
          <a:p/>
        </p:txBody>
      </p:sp>
      <p:sp>
        <p:nvSpPr>
          <p:cNvPr id="181" name="Shape 181"/>
          <p:cNvSpPr/>
          <p:nvPr/>
        </p:nvSpPr>
        <p:spPr>
          <a:xfrm>
            <a:off x="8330184" y="2029968"/>
            <a:ext cx="73152" cy="73152"/>
          </a:xfrm>
          <a:prstGeom prst="ellipse">
            <a:avLst/>
          </a:prstGeom>
          <a:solidFill>
            <a:srgbClr val="D8AE53"/>
          </a:solidFill>
          <a:ln>
            <a:noFill/>
          </a:ln>
        </p:spPr>
        <p:txBody>
          <a:bodyPr/>
          <a:lstStyle/>
          <a:p/>
        </p:txBody>
      </p:sp>
      <p:sp>
        <p:nvSpPr>
          <p:cNvPr id="182" name="Shape 182"/>
          <p:cNvSpPr/>
          <p:nvPr/>
        </p:nvSpPr>
        <p:spPr>
          <a:xfrm>
            <a:off x="8467344" y="2029968"/>
            <a:ext cx="73152" cy="73152"/>
          </a:xfrm>
          <a:prstGeom prst="ellipse">
            <a:avLst/>
          </a:prstGeom>
          <a:solidFill>
            <a:srgbClr val="C7F15D"/>
          </a:solidFill>
          <a:ln>
            <a:noFill/>
          </a:ln>
        </p:spPr>
        <p:txBody>
          <a:bodyPr/>
          <a:lstStyle/>
          <a:p/>
        </p:txBody>
      </p:sp>
      <p:sp>
        <p:nvSpPr>
          <p:cNvPr id="183" name="TextBox 183"/>
          <p:cNvSpPr txBox="1"/>
          <p:nvPr/>
        </p:nvSpPr>
        <p:spPr>
          <a:xfrm>
            <a:off x="8156448" y="2267712.0"/>
            <a:ext cx="3063240" cy="320040"/>
          </a:xfrm>
          <a:prstGeom prst="rect">
            <a:avLst/>
          </a:prstGeom>
          <a:noFill/>
          <a:ln>
            <a:noFill/>
          </a:ln>
        </p:spPr>
        <p:txBody>
          <a:bodyPr lIns="0" rIns="0" tIns="0" bIns="0" wrap="square"/>
          <a:lstStyle/>
          <a:p>
            <a:pPr algn="ctr" lvl="0">
              <a:buNone/>
            </a:pPr>
            <a:r>
              <a:rPr lang="en-US" sz="1900" b="1">
                <a:solidFill>
                  <a:srgbClr val="C7F15D"/>
                </a:solidFill>
                <a:latin typeface="Aptos"/>
              </a:rPr>
              <a:t>PLAYLIST</a:t>
            </a:r>
          </a:p>
        </p:txBody>
      </p:sp>
      <p:sp>
        <p:nvSpPr>
          <p:cNvPr id="184" name="TextBox 184"/>
          <p:cNvSpPr txBox="1"/>
          <p:nvPr/>
        </p:nvSpPr>
        <p:spPr>
          <a:xfrm>
            <a:off x="8229600" y="2606040.0"/>
            <a:ext cx="2916936" cy="310896"/>
          </a:xfrm>
          <a:prstGeom prst="rect">
            <a:avLst/>
          </a:prstGeom>
          <a:noFill/>
          <a:ln>
            <a:noFill/>
          </a:ln>
        </p:spPr>
        <p:txBody>
          <a:bodyPr lIns="0" rIns="0" tIns="0" bIns="0" wrap="square"/>
          <a:lstStyle/>
          <a:p>
            <a:pPr algn="ctr" lvl="0">
              <a:buNone/>
            </a:pPr>
            <a:r>
              <a:rPr lang="en-US" sz="900">
                <a:solidFill>
                  <a:srgbClr val="9F9787"/>
                </a:solidFill>
                <a:latin typeface="Aptos"/>
              </a:rPr>
              <a:t>Replace with playlist cards screenshot.</a:t>
            </a:r>
          </a:p>
        </p:txBody>
      </p:sp>
      <p:sp>
        <p:nvSpPr>
          <p:cNvPr id="185" name="Shape 185"/>
          <p:cNvSpPr/>
          <p:nvPr/>
        </p:nvSpPr>
        <p:spPr>
          <a:xfrm>
            <a:off x="1719072" y="3767328"/>
            <a:ext cx="3886200" cy="1572768"/>
          </a:xfrm>
          <a:prstGeom prst="roundRect">
            <a:avLst/>
          </a:prstGeom>
          <a:solidFill>
            <a:srgbClr val="202219"/>
          </a:solidFill>
          <a:ln w="12700">
            <a:solidFill>
              <a:srgbClr val="3B3A2F"/>
            </a:solidFill>
          </a:ln>
        </p:spPr>
        <p:txBody>
          <a:bodyPr/>
          <a:lstStyle/>
          <a:p/>
        </p:txBody>
      </p:sp>
      <p:sp>
        <p:nvSpPr>
          <p:cNvPr id="186" name="Shape 186"/>
          <p:cNvSpPr/>
          <p:nvPr/>
        </p:nvSpPr>
        <p:spPr>
          <a:xfrm>
            <a:off x="1828800" y="3877056"/>
            <a:ext cx="3666744" cy="228600"/>
          </a:xfrm>
          <a:prstGeom prst="roundRect">
            <a:avLst/>
          </a:prstGeom>
          <a:solidFill>
            <a:srgbClr val="10110D"/>
          </a:solidFill>
          <a:ln>
            <a:noFill/>
          </a:ln>
        </p:spPr>
        <p:txBody>
          <a:bodyPr/>
          <a:lstStyle/>
          <a:p/>
        </p:txBody>
      </p:sp>
      <p:sp>
        <p:nvSpPr>
          <p:cNvPr id="187" name="Shape 187"/>
          <p:cNvSpPr/>
          <p:nvPr/>
        </p:nvSpPr>
        <p:spPr>
          <a:xfrm>
            <a:off x="1938528" y="3950208"/>
            <a:ext cx="73152" cy="73152"/>
          </a:xfrm>
          <a:prstGeom prst="ellipse">
            <a:avLst/>
          </a:prstGeom>
          <a:solidFill>
            <a:srgbClr val="E67D62"/>
          </a:solidFill>
          <a:ln>
            <a:noFill/>
          </a:ln>
        </p:spPr>
        <p:txBody>
          <a:bodyPr/>
          <a:lstStyle/>
          <a:p/>
        </p:txBody>
      </p:sp>
      <p:sp>
        <p:nvSpPr>
          <p:cNvPr id="188" name="Shape 188"/>
          <p:cNvSpPr/>
          <p:nvPr/>
        </p:nvSpPr>
        <p:spPr>
          <a:xfrm>
            <a:off x="2075688" y="3950208"/>
            <a:ext cx="73152" cy="73152"/>
          </a:xfrm>
          <a:prstGeom prst="ellipse">
            <a:avLst/>
          </a:prstGeom>
          <a:solidFill>
            <a:srgbClr val="D8AE53"/>
          </a:solidFill>
          <a:ln>
            <a:noFill/>
          </a:ln>
        </p:spPr>
        <p:txBody>
          <a:bodyPr/>
          <a:lstStyle/>
          <a:p/>
        </p:txBody>
      </p:sp>
      <p:sp>
        <p:nvSpPr>
          <p:cNvPr id="189" name="Shape 189"/>
          <p:cNvSpPr/>
          <p:nvPr/>
        </p:nvSpPr>
        <p:spPr>
          <a:xfrm>
            <a:off x="2212848" y="3950208"/>
            <a:ext cx="73152" cy="73152"/>
          </a:xfrm>
          <a:prstGeom prst="ellipse">
            <a:avLst/>
          </a:prstGeom>
          <a:solidFill>
            <a:srgbClr val="C7F15D"/>
          </a:solidFill>
          <a:ln>
            <a:noFill/>
          </a:ln>
        </p:spPr>
        <p:txBody>
          <a:bodyPr/>
          <a:lstStyle/>
          <a:p/>
        </p:txBody>
      </p:sp>
      <p:sp>
        <p:nvSpPr>
          <p:cNvPr id="190" name="TextBox 190"/>
          <p:cNvSpPr txBox="1"/>
          <p:nvPr/>
        </p:nvSpPr>
        <p:spPr>
          <a:xfrm>
            <a:off x="1901952" y="4233672.0"/>
            <a:ext cx="3520440" cy="320040"/>
          </a:xfrm>
          <a:prstGeom prst="rect">
            <a:avLst/>
          </a:prstGeom>
          <a:noFill/>
          <a:ln>
            <a:noFill/>
          </a:ln>
        </p:spPr>
        <p:txBody>
          <a:bodyPr lIns="0" rIns="0" tIns="0" bIns="0" wrap="square"/>
          <a:lstStyle/>
          <a:p>
            <a:pPr algn="ctr" lvl="0">
              <a:buNone/>
            </a:pPr>
            <a:r>
              <a:rPr lang="en-US" sz="1900" b="1">
                <a:solidFill>
                  <a:srgbClr val="C7F15D"/>
                </a:solidFill>
                <a:latin typeface="Aptos"/>
              </a:rPr>
              <a:t>FORM</a:t>
            </a:r>
          </a:p>
        </p:txBody>
      </p:sp>
      <p:sp>
        <p:nvSpPr>
          <p:cNvPr id="191" name="TextBox 191"/>
          <p:cNvSpPr txBox="1"/>
          <p:nvPr/>
        </p:nvSpPr>
        <p:spPr>
          <a:xfrm>
            <a:off x="1975104" y="4572000.0"/>
            <a:ext cx="3374136" cy="310896"/>
          </a:xfrm>
          <a:prstGeom prst="rect">
            <a:avLst/>
          </a:prstGeom>
          <a:noFill/>
          <a:ln>
            <a:noFill/>
          </a:ln>
        </p:spPr>
        <p:txBody>
          <a:bodyPr lIns="0" rIns="0" tIns="0" bIns="0" wrap="square"/>
          <a:lstStyle/>
          <a:p>
            <a:pPr algn="ctr" lvl="0">
              <a:buNone/>
            </a:pPr>
            <a:r>
              <a:rPr lang="en-US" sz="900">
                <a:solidFill>
                  <a:srgbClr val="9F9787"/>
                </a:solidFill>
                <a:latin typeface="Aptos"/>
              </a:rPr>
              <a:t>Show the UAS form and saved request panel.</a:t>
            </a:r>
          </a:p>
        </p:txBody>
      </p:sp>
      <p:sp>
        <p:nvSpPr>
          <p:cNvPr id="192" name="Shape 192"/>
          <p:cNvSpPr/>
          <p:nvPr/>
        </p:nvSpPr>
        <p:spPr>
          <a:xfrm>
            <a:off x="6419088" y="3767328"/>
            <a:ext cx="3886200" cy="1572768"/>
          </a:xfrm>
          <a:prstGeom prst="roundRect">
            <a:avLst/>
          </a:prstGeom>
          <a:solidFill>
            <a:srgbClr val="202219"/>
          </a:solidFill>
          <a:ln w="12700">
            <a:solidFill>
              <a:srgbClr val="3B3A2F"/>
            </a:solidFill>
          </a:ln>
        </p:spPr>
        <p:txBody>
          <a:bodyPr/>
          <a:lstStyle/>
          <a:p/>
        </p:txBody>
      </p:sp>
      <p:sp>
        <p:nvSpPr>
          <p:cNvPr id="193" name="Shape 193"/>
          <p:cNvSpPr/>
          <p:nvPr/>
        </p:nvSpPr>
        <p:spPr>
          <a:xfrm>
            <a:off x="6528816" y="3877056"/>
            <a:ext cx="3666744" cy="228600"/>
          </a:xfrm>
          <a:prstGeom prst="roundRect">
            <a:avLst/>
          </a:prstGeom>
          <a:solidFill>
            <a:srgbClr val="10110D"/>
          </a:solidFill>
          <a:ln>
            <a:noFill/>
          </a:ln>
        </p:spPr>
        <p:txBody>
          <a:bodyPr/>
          <a:lstStyle/>
          <a:p/>
        </p:txBody>
      </p:sp>
      <p:sp>
        <p:nvSpPr>
          <p:cNvPr id="194" name="Shape 194"/>
          <p:cNvSpPr/>
          <p:nvPr/>
        </p:nvSpPr>
        <p:spPr>
          <a:xfrm>
            <a:off x="6638544" y="3950208"/>
            <a:ext cx="73152" cy="73152"/>
          </a:xfrm>
          <a:prstGeom prst="ellipse">
            <a:avLst/>
          </a:prstGeom>
          <a:solidFill>
            <a:srgbClr val="E67D62"/>
          </a:solidFill>
          <a:ln>
            <a:noFill/>
          </a:ln>
        </p:spPr>
        <p:txBody>
          <a:bodyPr/>
          <a:lstStyle/>
          <a:p/>
        </p:txBody>
      </p:sp>
      <p:sp>
        <p:nvSpPr>
          <p:cNvPr id="195" name="Shape 195"/>
          <p:cNvSpPr/>
          <p:nvPr/>
        </p:nvSpPr>
        <p:spPr>
          <a:xfrm>
            <a:off x="6775704" y="3950208"/>
            <a:ext cx="73152" cy="73152"/>
          </a:xfrm>
          <a:prstGeom prst="ellipse">
            <a:avLst/>
          </a:prstGeom>
          <a:solidFill>
            <a:srgbClr val="D8AE53"/>
          </a:solidFill>
          <a:ln>
            <a:noFill/>
          </a:ln>
        </p:spPr>
        <p:txBody>
          <a:bodyPr/>
          <a:lstStyle/>
          <a:p/>
        </p:txBody>
      </p:sp>
      <p:sp>
        <p:nvSpPr>
          <p:cNvPr id="196" name="Shape 196"/>
          <p:cNvSpPr/>
          <p:nvPr/>
        </p:nvSpPr>
        <p:spPr>
          <a:xfrm>
            <a:off x="6912864" y="3950208"/>
            <a:ext cx="73152" cy="73152"/>
          </a:xfrm>
          <a:prstGeom prst="ellipse">
            <a:avLst/>
          </a:prstGeom>
          <a:solidFill>
            <a:srgbClr val="C7F15D"/>
          </a:solidFill>
          <a:ln>
            <a:noFill/>
          </a:ln>
        </p:spPr>
        <p:txBody>
          <a:bodyPr/>
          <a:lstStyle/>
          <a:p/>
        </p:txBody>
      </p:sp>
      <p:sp>
        <p:nvSpPr>
          <p:cNvPr id="197" name="TextBox 197"/>
          <p:cNvSpPr txBox="1"/>
          <p:nvPr/>
        </p:nvSpPr>
        <p:spPr>
          <a:xfrm>
            <a:off x="6601968" y="4233672.0"/>
            <a:ext cx="3520440" cy="320040"/>
          </a:xfrm>
          <a:prstGeom prst="rect">
            <a:avLst/>
          </a:prstGeom>
          <a:noFill/>
          <a:ln>
            <a:noFill/>
          </a:ln>
        </p:spPr>
        <p:txBody>
          <a:bodyPr lIns="0" rIns="0" tIns="0" bIns="0" wrap="square"/>
          <a:lstStyle/>
          <a:p>
            <a:pPr algn="ctr" lvl="0">
              <a:buNone/>
            </a:pPr>
            <a:r>
              <a:rPr lang="en-US" sz="1900" b="1">
                <a:solidFill>
                  <a:srgbClr val="C7F15D"/>
                </a:solidFill>
                <a:latin typeface="Aptos"/>
              </a:rPr>
              <a:t>MOBILE VIEW</a:t>
            </a:r>
          </a:p>
        </p:txBody>
      </p:sp>
      <p:sp>
        <p:nvSpPr>
          <p:cNvPr id="198" name="TextBox 198"/>
          <p:cNvSpPr txBox="1"/>
          <p:nvPr/>
        </p:nvSpPr>
        <p:spPr>
          <a:xfrm>
            <a:off x="6675120" y="4572000.0"/>
            <a:ext cx="3374136" cy="310896"/>
          </a:xfrm>
          <a:prstGeom prst="rect">
            <a:avLst/>
          </a:prstGeom>
          <a:noFill/>
          <a:ln>
            <a:noFill/>
          </a:ln>
        </p:spPr>
        <p:txBody>
          <a:bodyPr lIns="0" rIns="0" tIns="0" bIns="0" wrap="square"/>
          <a:lstStyle/>
          <a:p>
            <a:pPr algn="ctr" lvl="0">
              <a:buNone/>
            </a:pPr>
            <a:r>
              <a:rPr lang="en-US" sz="900">
                <a:solidFill>
                  <a:srgbClr val="9F9787"/>
                </a:solidFill>
                <a:latin typeface="Aptos"/>
              </a:rPr>
              <a:t>Show responsive navigation/form layout.</a:t>
            </a:r>
          </a:p>
        </p:txBody>
      </p:sp>
      <p:sp>
        <p:nvSpPr>
          <p:cNvPr id="207" name="TextBox 207"/>
          <p:cNvSpPr txBox="1"/>
          <p:nvPr/>
        </p:nvSpPr>
        <p:spPr>
          <a:xfrm>
            <a:off x="658368" y="6446520"/>
            <a:ext cx="5669280" cy="219456"/>
          </a:xfrm>
          <a:prstGeom prst="rect">
            <a:avLst/>
          </a:prstGeom>
          <a:noFill/>
          <a:ln>
            <a:noFill/>
          </a:ln>
        </p:spPr>
        <p:txBody>
          <a:bodyPr lIns="0" rIns="0" tIns="0" bIns="0" wrap="square"/>
          <a:lstStyle/>
          <a:p>
            <a:pPr algn="l" lvl="0">
              <a:buNone/>
            </a:pPr>
            <a:r>
              <a:rPr lang="en-US" sz="800">
                <a:solidFill>
                  <a:srgbClr val="9F9787"/>
                </a:solidFill>
                <a:latin typeface="Aptos"/>
              </a:rPr>
              <a:t>Brilliant's Music Universe - UAS Web Client Development</a:t>
            </a:r>
          </a:p>
        </p:txBody>
      </p:sp>
      <p:sp>
        <p:nvSpPr>
          <p:cNvPr id="208" name="TextBox 208"/>
          <p:cNvSpPr txBox="1"/>
          <p:nvPr/>
        </p:nvSpPr>
        <p:spPr>
          <a:xfrm>
            <a:off x="11201400" y="6446520"/>
            <a:ext cx="347472" cy="219456"/>
          </a:xfrm>
          <a:prstGeom prst="rect">
            <a:avLst/>
          </a:prstGeom>
          <a:noFill/>
          <a:ln>
            <a:noFill/>
          </a:ln>
        </p:spPr>
        <p:txBody>
          <a:bodyPr lIns="0" rIns="0" tIns="0" bIns="0" wrap="square"/>
          <a:lstStyle/>
          <a:p>
            <a:pPr algn="r" lvl="0">
              <a:buNone/>
            </a:pPr>
            <a:r>
              <a:rPr lang="en-US" sz="800">
                <a:solidFill>
                  <a:srgbClr val="9F9787"/>
                </a:solidFill>
                <a:latin typeface="Apto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Shape 211"/>
          <p:cNvSpPr/>
          <p:nvPr/>
        </p:nvSpPr>
        <p:spPr>
          <a:xfrm>
            <a:off x="0" y="0"/>
            <a:ext cx="12192000" cy="6858000"/>
          </a:xfrm>
          <a:prstGeom prst="rect">
            <a:avLst/>
          </a:prstGeom>
          <a:solidFill>
            <a:srgbClr val="0D0E0B"/>
          </a:solidFill>
          <a:ln>
            <a:noFill/>
          </a:ln>
        </p:spPr>
        <p:txBody>
          <a:bodyPr/>
          <a:lstStyle/>
          <a:p/>
        </p:txBody>
      </p:sp>
      <p:sp>
        <p:nvSpPr>
          <p:cNvPr id="212" name="Shape 212"/>
          <p:cNvSpPr/>
          <p:nvPr/>
        </p:nvSpPr>
        <p:spPr>
          <a:xfrm>
            <a:off x="8549640" y="-228600"/>
            <a:ext cx="3291840" cy="2377440"/>
          </a:xfrm>
          <a:prstGeom prst="ellipse">
            <a:avLst/>
          </a:prstGeom>
          <a:solidFill>
            <a:srgbClr val="162018"/>
          </a:solidFill>
          <a:ln>
            <a:noFill/>
          </a:ln>
        </p:spPr>
        <p:txBody>
          <a:bodyPr/>
          <a:lstStyle/>
          <a:p/>
        </p:txBody>
      </p:sp>
      <p:sp>
        <p:nvSpPr>
          <p:cNvPr id="213" name="Shape 213"/>
          <p:cNvSpPr/>
          <p:nvPr/>
        </p:nvSpPr>
        <p:spPr>
          <a:xfrm>
            <a:off x="-594360" y="4663440"/>
            <a:ext cx="2926080" cy="2011680"/>
          </a:xfrm>
          <a:prstGeom prst="ellipse">
            <a:avLst/>
          </a:prstGeom>
          <a:solidFill>
            <a:srgbClr val="1B2416"/>
          </a:solidFill>
          <a:ln>
            <a:noFill/>
          </a:ln>
        </p:spPr>
        <p:txBody>
          <a:bodyPr/>
          <a:lstStyle/>
          <a:p/>
        </p:txBody>
      </p:sp>
      <p:sp>
        <p:nvSpPr>
          <p:cNvPr id="214" name="Shape 214"/>
          <p:cNvSpPr/>
          <p:nvPr/>
        </p:nvSpPr>
        <p:spPr>
          <a:xfrm>
            <a:off x="658368" y="530352"/>
            <a:ext cx="530352" cy="530352"/>
          </a:xfrm>
          <a:prstGeom prst="ellipse">
            <a:avLst/>
          </a:prstGeom>
          <a:solidFill>
            <a:srgbClr val="C7F15D"/>
          </a:solidFill>
          <a:ln>
            <a:noFill/>
          </a:ln>
        </p:spPr>
        <p:txBody>
          <a:bodyPr/>
          <a:lstStyle/>
          <a:p/>
        </p:txBody>
      </p:sp>
      <p:sp>
        <p:nvSpPr>
          <p:cNvPr id="215" name="TextBox 215"/>
          <p:cNvSpPr txBox="1"/>
          <p:nvPr/>
        </p:nvSpPr>
        <p:spPr>
          <a:xfrm>
            <a:off x="813816" y="649224"/>
            <a:ext cx="237744" cy="237744"/>
          </a:xfrm>
          <a:prstGeom prst="rect">
            <a:avLst/>
          </a:prstGeom>
          <a:noFill/>
          <a:ln>
            <a:noFill/>
          </a:ln>
        </p:spPr>
        <p:txBody>
          <a:bodyPr lIns="0" rIns="0" tIns="0" bIns="0" wrap="square"/>
          <a:lstStyle/>
          <a:p>
            <a:pPr algn="ctr" lvl="0">
              <a:buNone/>
            </a:pPr>
            <a:r>
              <a:rPr lang="en-US" sz="1300" b="1">
                <a:solidFill>
                  <a:srgbClr val="10120C"/>
                </a:solidFill>
                <a:latin typeface="Aptos"/>
              </a:rPr>
              <a:t>B</a:t>
            </a:r>
          </a:p>
        </p:txBody>
      </p:sp>
      <p:sp>
        <p:nvSpPr>
          <p:cNvPr id="216" name="Shape 216"/>
          <p:cNvSpPr/>
          <p:nvPr/>
        </p:nvSpPr>
        <p:spPr>
          <a:xfrm>
            <a:off x="713232" y="896112"/>
            <a:ext cx="2331720" cy="347472"/>
          </a:xfrm>
          <a:prstGeom prst="roundRect">
            <a:avLst/>
          </a:prstGeom>
          <a:solidFill>
            <a:srgbClr val="C7F15D"/>
          </a:solidFill>
          <a:ln>
            <a:noFill/>
          </a:ln>
        </p:spPr>
        <p:txBody>
          <a:bodyPr/>
          <a:lstStyle/>
          <a:p/>
        </p:txBody>
      </p:sp>
      <p:sp>
        <p:nvSpPr>
          <p:cNvPr id="217" name="TextBox 217"/>
          <p:cNvSpPr txBox="1"/>
          <p:nvPr/>
        </p:nvSpPr>
        <p:spPr>
          <a:xfrm>
            <a:off x="713232" y="946404"/>
            <a:ext cx="2331720" cy="228600"/>
          </a:xfrm>
          <a:prstGeom prst="rect">
            <a:avLst/>
          </a:prstGeom>
          <a:noFill/>
          <a:ln>
            <a:noFill/>
          </a:ln>
        </p:spPr>
        <p:txBody>
          <a:bodyPr lIns="0" rIns="0" tIns="0" bIns="0" wrap="square"/>
          <a:lstStyle/>
          <a:p>
            <a:pPr algn="ctr" lvl="0">
              <a:buNone/>
            </a:pPr>
            <a:r>
              <a:rPr lang="en-US" sz="1000" b="1">
                <a:solidFill>
                  <a:srgbClr val="10120C"/>
                </a:solidFill>
                <a:latin typeface="Aptos"/>
              </a:rPr>
              <a:t>REFLECTION</a:t>
            </a:r>
          </a:p>
        </p:txBody>
      </p:sp>
      <p:sp>
        <p:nvSpPr>
          <p:cNvPr id="218" name="TextBox 218"/>
          <p:cNvSpPr txBox="1"/>
          <p:nvPr/>
        </p:nvSpPr>
        <p:spPr>
          <a:xfrm>
            <a:off x="658368" y="1325880"/>
            <a:ext cx="7223760" cy="960120"/>
          </a:xfrm>
          <a:prstGeom prst="rect">
            <a:avLst/>
          </a:prstGeom>
          <a:noFill/>
          <a:ln>
            <a:noFill/>
          </a:ln>
        </p:spPr>
        <p:txBody>
          <a:bodyPr lIns="0" rIns="0" tIns="0" bIns="0" wrap="square"/>
          <a:lstStyle/>
          <a:p>
            <a:pPr algn="l" lvl="0">
              <a:buNone/>
            </a:pPr>
            <a:r>
              <a:rPr lang="en-US" sz="3100" b="1">
                <a:solidFill>
                  <a:srgbClr val="F4EAD6"/>
                </a:solidFill>
                <a:latin typeface="Georgia"/>
              </a:rPr>
              <a:t>Refleksi singkat pengembangan website.</a:t>
            </a:r>
          </a:p>
        </p:txBody>
      </p:sp>
      <p:sp>
        <p:nvSpPr>
          <p:cNvPr id="209" name="Shape 209"/>
          <p:cNvSpPr/>
          <p:nvPr/>
        </p:nvSpPr>
        <p:spPr>
          <a:xfrm>
            <a:off x="658368" y="2148840"/>
            <a:ext cx="10927080" cy="2971800"/>
          </a:xfrm>
          <a:prstGeom prst="roundRect">
            <a:avLst/>
          </a:prstGeom>
          <a:solidFill>
            <a:srgbClr val="171912"/>
          </a:solidFill>
          <a:ln w="12700">
            <a:solidFill>
              <a:srgbClr val="3B3A2F"/>
            </a:solidFill>
          </a:ln>
        </p:spPr>
        <p:txBody>
          <a:bodyPr/>
          <a:lstStyle/>
          <a:p/>
        </p:txBody>
      </p:sp>
      <p:sp>
        <p:nvSpPr>
          <p:cNvPr id="210" name="TextBox 210"/>
          <p:cNvSpPr txBox="1"/>
          <p:nvPr/>
        </p:nvSpPr>
        <p:spPr>
          <a:xfrm>
            <a:off x="987552" y="2487168"/>
            <a:ext cx="10195560" cy="2331720"/>
          </a:xfrm>
          <a:prstGeom prst="rect">
            <a:avLst/>
          </a:prstGeom>
          <a:noFill/>
          <a:ln>
            <a:noFill/>
          </a:ln>
        </p:spPr>
        <p:txBody>
          <a:bodyPr lIns="0" rIns="0" tIns="0" bIns="0" wrap="square"/>
          <a:lstStyle/>
          <a:p>
            <a:pPr algn="l" lvl="0">
              <a:buNone/>
              <a:lnSpc>
                <a:spcPct val="115000"/>
              </a:lnSpc>
            </a:pPr>
            <a:r>
              <a:rPr lang="en-US" sz="1500">
                <a:solidFill>
                  <a:srgbClr val="D8CDB5"/>
                </a:solidFill>
                <a:latin typeface="Aptos"/>
              </a:rPr>
              <a:t>Dari pengembangan UTS ke UAS ini, saya belajar bahwa website yang terlihat sederhana tetap membutuhkan perencanaan yang rapi. Fitur form tidak hanya tentang membuat input, tetapi juga memastikan data yang masuk valid, tersimpan, dan tetap muncul setelah halaman di-refresh.</a:t>
            </a:r>
          </a:p>
          <a:p>
            <a:pPr algn="l" lvl="0">
              <a:buNone/>
              <a:lnSpc>
                <a:spcPct val="115000"/>
              </a:lnSpc>
            </a:pPr>
            <a:r>
              <a:rPr lang="en-US" sz="1500">
                <a:solidFill>
                  <a:srgbClr val="D8CDB5"/>
                </a:solidFill>
                <a:latin typeface="Aptos"/>
              </a:rPr>
              <a:t>Saya juga lebih paham pentingnya konsistensi UI, aksesibilitas, dan struktur kode. Hal kecil seperti label form, focus state, navigasi mobile, dan localStorage ternyata sangat berpengaruh ke pengalaman pengguna. Proyek ini membantu saya melihat web client development sebagai gabungan antara desain, logika, dan tanggung jawab terhadap pengguna.</a:t>
            </a:r>
          </a:p>
        </p:txBody>
      </p:sp>
      <p:sp>
        <p:nvSpPr>
          <p:cNvPr id="219" name="TextBox 219"/>
          <p:cNvSpPr txBox="1"/>
          <p:nvPr/>
        </p:nvSpPr>
        <p:spPr>
          <a:xfrm>
            <a:off x="658368" y="6446520"/>
            <a:ext cx="5669280" cy="219456"/>
          </a:xfrm>
          <a:prstGeom prst="rect">
            <a:avLst/>
          </a:prstGeom>
          <a:noFill/>
          <a:ln>
            <a:noFill/>
          </a:ln>
        </p:spPr>
        <p:txBody>
          <a:bodyPr lIns="0" rIns="0" tIns="0" bIns="0" wrap="square"/>
          <a:lstStyle/>
          <a:p>
            <a:pPr algn="l" lvl="0">
              <a:buNone/>
            </a:pPr>
            <a:r>
              <a:rPr lang="en-US" sz="800">
                <a:solidFill>
                  <a:srgbClr val="9F9787"/>
                </a:solidFill>
                <a:latin typeface="Aptos"/>
              </a:rPr>
              <a:t>Brilliant's Music Universe - UAS Web Client Development</a:t>
            </a:r>
          </a:p>
        </p:txBody>
      </p:sp>
      <p:sp>
        <p:nvSpPr>
          <p:cNvPr id="220" name="TextBox 220"/>
          <p:cNvSpPr txBox="1"/>
          <p:nvPr/>
        </p:nvSpPr>
        <p:spPr>
          <a:xfrm>
            <a:off x="11201400" y="6446520"/>
            <a:ext cx="347472" cy="219456"/>
          </a:xfrm>
          <a:prstGeom prst="rect">
            <a:avLst/>
          </a:prstGeom>
          <a:noFill/>
          <a:ln>
            <a:noFill/>
          </a:ln>
        </p:spPr>
        <p:txBody>
          <a:bodyPr lIns="0" rIns="0" tIns="0" bIns="0" wrap="square"/>
          <a:lstStyle/>
          <a:p>
            <a:pPr algn="r" lvl="0">
              <a:buNone/>
            </a:pPr>
            <a:r>
              <a:rPr lang="en-US" sz="800">
                <a:solidFill>
                  <a:srgbClr val="9F9787"/>
                </a:solidFill>
                <a:latin typeface="Apto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hape 233"/>
          <p:cNvSpPr/>
          <p:nvPr/>
        </p:nvSpPr>
        <p:spPr>
          <a:xfrm>
            <a:off x="0" y="0"/>
            <a:ext cx="12192000" cy="6858000"/>
          </a:xfrm>
          <a:prstGeom prst="rect">
            <a:avLst/>
          </a:prstGeom>
          <a:solidFill>
            <a:srgbClr val="0D0E0B"/>
          </a:solidFill>
          <a:ln>
            <a:noFill/>
          </a:ln>
        </p:spPr>
        <p:txBody>
          <a:bodyPr/>
          <a:lstStyle/>
          <a:p/>
        </p:txBody>
      </p:sp>
      <p:sp>
        <p:nvSpPr>
          <p:cNvPr id="234" name="Shape 234"/>
          <p:cNvSpPr/>
          <p:nvPr/>
        </p:nvSpPr>
        <p:spPr>
          <a:xfrm>
            <a:off x="8549640" y="-228600"/>
            <a:ext cx="3291840" cy="2377440"/>
          </a:xfrm>
          <a:prstGeom prst="ellipse">
            <a:avLst/>
          </a:prstGeom>
          <a:solidFill>
            <a:srgbClr val="162018"/>
          </a:solidFill>
          <a:ln>
            <a:noFill/>
          </a:ln>
        </p:spPr>
        <p:txBody>
          <a:bodyPr/>
          <a:lstStyle/>
          <a:p/>
        </p:txBody>
      </p:sp>
      <p:sp>
        <p:nvSpPr>
          <p:cNvPr id="235" name="Shape 235"/>
          <p:cNvSpPr/>
          <p:nvPr/>
        </p:nvSpPr>
        <p:spPr>
          <a:xfrm>
            <a:off x="-594360" y="4663440"/>
            <a:ext cx="2926080" cy="2011680"/>
          </a:xfrm>
          <a:prstGeom prst="ellipse">
            <a:avLst/>
          </a:prstGeom>
          <a:solidFill>
            <a:srgbClr val="1B2416"/>
          </a:solidFill>
          <a:ln>
            <a:noFill/>
          </a:ln>
        </p:spPr>
        <p:txBody>
          <a:bodyPr/>
          <a:lstStyle/>
          <a:p/>
        </p:txBody>
      </p:sp>
      <p:sp>
        <p:nvSpPr>
          <p:cNvPr id="236" name="Shape 236"/>
          <p:cNvSpPr/>
          <p:nvPr/>
        </p:nvSpPr>
        <p:spPr>
          <a:xfrm>
            <a:off x="658368" y="530352"/>
            <a:ext cx="530352" cy="530352"/>
          </a:xfrm>
          <a:prstGeom prst="ellipse">
            <a:avLst/>
          </a:prstGeom>
          <a:solidFill>
            <a:srgbClr val="C7F15D"/>
          </a:solidFill>
          <a:ln>
            <a:noFill/>
          </a:ln>
        </p:spPr>
        <p:txBody>
          <a:bodyPr/>
          <a:lstStyle/>
          <a:p/>
        </p:txBody>
      </p:sp>
      <p:sp>
        <p:nvSpPr>
          <p:cNvPr id="237" name="TextBox 237"/>
          <p:cNvSpPr txBox="1"/>
          <p:nvPr/>
        </p:nvSpPr>
        <p:spPr>
          <a:xfrm>
            <a:off x="813816" y="649224"/>
            <a:ext cx="237744" cy="237744"/>
          </a:xfrm>
          <a:prstGeom prst="rect">
            <a:avLst/>
          </a:prstGeom>
          <a:noFill/>
          <a:ln>
            <a:noFill/>
          </a:ln>
        </p:spPr>
        <p:txBody>
          <a:bodyPr lIns="0" rIns="0" tIns="0" bIns="0" wrap="square"/>
          <a:lstStyle/>
          <a:p>
            <a:pPr algn="ctr" lvl="0">
              <a:buNone/>
            </a:pPr>
            <a:r>
              <a:rPr lang="en-US" sz="1300" b="1">
                <a:solidFill>
                  <a:srgbClr val="10120C"/>
                </a:solidFill>
                <a:latin typeface="Aptos"/>
              </a:rPr>
              <a:t>B</a:t>
            </a:r>
          </a:p>
        </p:txBody>
      </p:sp>
      <p:sp>
        <p:nvSpPr>
          <p:cNvPr id="238" name="Shape 238"/>
          <p:cNvSpPr/>
          <p:nvPr/>
        </p:nvSpPr>
        <p:spPr>
          <a:xfrm>
            <a:off x="713232" y="896112"/>
            <a:ext cx="2331720" cy="347472"/>
          </a:xfrm>
          <a:prstGeom prst="roundRect">
            <a:avLst/>
          </a:prstGeom>
          <a:solidFill>
            <a:srgbClr val="C7F15D"/>
          </a:solidFill>
          <a:ln>
            <a:noFill/>
          </a:ln>
        </p:spPr>
        <p:txBody>
          <a:bodyPr/>
          <a:lstStyle/>
          <a:p/>
        </p:txBody>
      </p:sp>
      <p:sp>
        <p:nvSpPr>
          <p:cNvPr id="239" name="TextBox 239"/>
          <p:cNvSpPr txBox="1"/>
          <p:nvPr/>
        </p:nvSpPr>
        <p:spPr>
          <a:xfrm>
            <a:off x="713232" y="946404"/>
            <a:ext cx="2331720" cy="228600"/>
          </a:xfrm>
          <a:prstGeom prst="rect">
            <a:avLst/>
          </a:prstGeom>
          <a:noFill/>
          <a:ln>
            <a:noFill/>
          </a:ln>
        </p:spPr>
        <p:txBody>
          <a:bodyPr lIns="0" rIns="0" tIns="0" bIns="0" wrap="square"/>
          <a:lstStyle/>
          <a:p>
            <a:pPr algn="ctr" lvl="0">
              <a:buNone/>
            </a:pPr>
            <a:r>
              <a:rPr lang="en-US" sz="1000" b="1">
                <a:solidFill>
                  <a:srgbClr val="10120C"/>
                </a:solidFill>
                <a:latin typeface="Aptos"/>
              </a:rPr>
              <a:t>Conclusion</a:t>
            </a:r>
          </a:p>
        </p:txBody>
      </p:sp>
      <p:sp>
        <p:nvSpPr>
          <p:cNvPr id="240" name="TextBox 240"/>
          <p:cNvSpPr txBox="1"/>
          <p:nvPr/>
        </p:nvSpPr>
        <p:spPr>
          <a:xfrm>
            <a:off x="658368" y="1325880"/>
            <a:ext cx="7223760" cy="960120"/>
          </a:xfrm>
          <a:prstGeom prst="rect">
            <a:avLst/>
          </a:prstGeom>
          <a:noFill/>
          <a:ln>
            <a:noFill/>
          </a:ln>
        </p:spPr>
        <p:txBody>
          <a:bodyPr lIns="0" rIns="0" tIns="0" bIns="0" wrap="square"/>
          <a:lstStyle/>
          <a:p>
            <a:pPr algn="l" lvl="0">
              <a:buNone/>
            </a:pPr>
            <a:r>
              <a:rPr lang="en-US" sz="3100" b="1">
                <a:solidFill>
                  <a:srgbClr val="F4EAD6"/>
                </a:solidFill>
                <a:latin typeface="Georgia"/>
              </a:rPr>
              <a:t>Final product, strengths, and future improvements.</a:t>
            </a:r>
          </a:p>
        </p:txBody>
      </p:sp>
      <p:sp>
        <p:nvSpPr>
          <p:cNvPr id="221" name="Shape 221"/>
          <p:cNvSpPr/>
          <p:nvPr/>
        </p:nvSpPr>
        <p:spPr>
          <a:xfrm>
            <a:off x="658368" y="2148840"/>
            <a:ext cx="3429000" cy="2697480"/>
          </a:xfrm>
          <a:prstGeom prst="roundRect">
            <a:avLst/>
          </a:prstGeom>
          <a:solidFill>
            <a:srgbClr val="171912"/>
          </a:solidFill>
          <a:ln w="12700">
            <a:solidFill>
              <a:srgbClr val="3B3A2F"/>
            </a:solidFill>
          </a:ln>
        </p:spPr>
        <p:txBody>
          <a:bodyPr/>
          <a:lstStyle/>
          <a:p/>
        </p:txBody>
      </p:sp>
      <p:sp>
        <p:nvSpPr>
          <p:cNvPr id="222" name="Shape 222"/>
          <p:cNvSpPr/>
          <p:nvPr/>
        </p:nvSpPr>
        <p:spPr>
          <a:xfrm>
            <a:off x="841248" y="2331720"/>
            <a:ext cx="109728" cy="109728"/>
          </a:xfrm>
          <a:prstGeom prst="ellipse">
            <a:avLst/>
          </a:prstGeom>
          <a:solidFill>
            <a:srgbClr val="C7F15D"/>
          </a:solidFill>
          <a:ln>
            <a:noFill/>
          </a:ln>
        </p:spPr>
        <p:txBody>
          <a:bodyPr/>
          <a:lstStyle/>
          <a:p/>
        </p:txBody>
      </p:sp>
      <p:sp>
        <p:nvSpPr>
          <p:cNvPr id="223" name="TextBox 223"/>
          <p:cNvSpPr txBox="1"/>
          <p:nvPr/>
        </p:nvSpPr>
        <p:spPr>
          <a:xfrm>
            <a:off x="1042416" y="2267712"/>
            <a:ext cx="2862072" cy="365760"/>
          </a:xfrm>
          <a:prstGeom prst="rect">
            <a:avLst/>
          </a:prstGeom>
          <a:noFill/>
          <a:ln>
            <a:noFill/>
          </a:ln>
        </p:spPr>
        <p:txBody>
          <a:bodyPr lIns="0" rIns="0" tIns="0" bIns="0" wrap="square"/>
          <a:lstStyle/>
          <a:p>
            <a:pPr algn="l" lvl="0">
              <a:buNone/>
            </a:pPr>
            <a:r>
              <a:rPr lang="en-US" sz="1500" b="1">
                <a:solidFill>
                  <a:srgbClr val="F4EAD6"/>
                </a:solidFill>
                <a:latin typeface="Aptos"/>
              </a:rPr>
              <a:t>Final Product</a:t>
            </a:r>
          </a:p>
        </p:txBody>
      </p:sp>
      <p:sp>
        <p:nvSpPr>
          <p:cNvPr id="224" name="TextBox 224"/>
          <p:cNvSpPr txBox="1"/>
          <p:nvPr/>
        </p:nvSpPr>
        <p:spPr>
          <a:xfrm>
            <a:off x="987552" y="2770632"/>
            <a:ext cx="2862072" cy="1874520"/>
          </a:xfrm>
          <a:prstGeom prst="rect">
            <a:avLst/>
          </a:prstGeom>
          <a:noFill/>
          <a:ln>
            <a:noFill/>
          </a:ln>
        </p:spPr>
        <p:txBody>
          <a:bodyPr lIns="0" rIns="0" tIns="0" bIns="0" wrap="square"/>
          <a:lstStyle/>
          <a:p>
            <a:pPr algn="l" lvl="0">
              <a:buChar char="-"/>
            </a:pPr>
            <a:r>
              <a:rPr lang="en-US" sz="1100">
                <a:solidFill>
                  <a:srgbClr val="D8CDB5"/>
                </a:solidFill>
                <a:latin typeface="Aptos"/>
              </a:rPr>
              <a:t>Personal music website with four pages</a:t>
            </a:r>
          </a:p>
          <a:p>
            <a:pPr algn="l" lvl="0">
              <a:buChar char="-"/>
            </a:pPr>
            <a:r>
              <a:rPr lang="en-US" sz="1100">
                <a:solidFill>
                  <a:srgbClr val="D8CDB5"/>
                </a:solidFill>
                <a:latin typeface="Aptos"/>
              </a:rPr>
              <a:t>Custom playlist request form</a:t>
            </a:r>
          </a:p>
          <a:p>
            <a:pPr algn="l" lvl="0">
              <a:buChar char="-"/>
            </a:pPr>
            <a:r>
              <a:rPr lang="en-US" sz="1100">
                <a:solidFill>
                  <a:srgbClr val="D8CDB5"/>
                </a:solidFill>
                <a:latin typeface="Aptos"/>
              </a:rPr>
              <a:t>Client-side validation and persistence</a:t>
            </a:r>
          </a:p>
        </p:txBody>
      </p:sp>
      <p:sp>
        <p:nvSpPr>
          <p:cNvPr id="225" name="Shape 225"/>
          <p:cNvSpPr/>
          <p:nvPr/>
        </p:nvSpPr>
        <p:spPr>
          <a:xfrm>
            <a:off x="4315968" y="2148840"/>
            <a:ext cx="3429000" cy="2697480"/>
          </a:xfrm>
          <a:prstGeom prst="roundRect">
            <a:avLst/>
          </a:prstGeom>
          <a:solidFill>
            <a:srgbClr val="171912"/>
          </a:solidFill>
          <a:ln w="12700">
            <a:solidFill>
              <a:srgbClr val="3B3A2F"/>
            </a:solidFill>
          </a:ln>
        </p:spPr>
        <p:txBody>
          <a:bodyPr/>
          <a:lstStyle/>
          <a:p/>
        </p:txBody>
      </p:sp>
      <p:sp>
        <p:nvSpPr>
          <p:cNvPr id="226" name="Shape 226"/>
          <p:cNvSpPr/>
          <p:nvPr/>
        </p:nvSpPr>
        <p:spPr>
          <a:xfrm>
            <a:off x="4498848" y="2331720"/>
            <a:ext cx="109728" cy="109728"/>
          </a:xfrm>
          <a:prstGeom prst="ellipse">
            <a:avLst/>
          </a:prstGeom>
          <a:solidFill>
            <a:srgbClr val="D8AE53"/>
          </a:solidFill>
          <a:ln>
            <a:noFill/>
          </a:ln>
        </p:spPr>
        <p:txBody>
          <a:bodyPr/>
          <a:lstStyle/>
          <a:p/>
        </p:txBody>
      </p:sp>
      <p:sp>
        <p:nvSpPr>
          <p:cNvPr id="227" name="TextBox 227"/>
          <p:cNvSpPr txBox="1"/>
          <p:nvPr/>
        </p:nvSpPr>
        <p:spPr>
          <a:xfrm>
            <a:off x="4700016" y="2267712"/>
            <a:ext cx="2862072" cy="365760"/>
          </a:xfrm>
          <a:prstGeom prst="rect">
            <a:avLst/>
          </a:prstGeom>
          <a:noFill/>
          <a:ln>
            <a:noFill/>
          </a:ln>
        </p:spPr>
        <p:txBody>
          <a:bodyPr lIns="0" rIns="0" tIns="0" bIns="0" wrap="square"/>
          <a:lstStyle/>
          <a:p>
            <a:pPr algn="l" lvl="0">
              <a:buNone/>
            </a:pPr>
            <a:r>
              <a:rPr lang="en-US" sz="1500" b="1">
                <a:solidFill>
                  <a:srgbClr val="F4EAD6"/>
                </a:solidFill>
                <a:latin typeface="Aptos"/>
              </a:rPr>
              <a:t>Strengths</a:t>
            </a:r>
          </a:p>
        </p:txBody>
      </p:sp>
      <p:sp>
        <p:nvSpPr>
          <p:cNvPr id="228" name="TextBox 228"/>
          <p:cNvSpPr txBox="1"/>
          <p:nvPr/>
        </p:nvSpPr>
        <p:spPr>
          <a:xfrm>
            <a:off x="4645152" y="2770632"/>
            <a:ext cx="2862072" cy="1874520"/>
          </a:xfrm>
          <a:prstGeom prst="rect">
            <a:avLst/>
          </a:prstGeom>
          <a:noFill/>
          <a:ln>
            <a:noFill/>
          </a:ln>
        </p:spPr>
        <p:txBody>
          <a:bodyPr lIns="0" rIns="0" tIns="0" bIns="0" wrap="square"/>
          <a:lstStyle/>
          <a:p>
            <a:pPr algn="l" lvl="0">
              <a:buChar char="-"/>
            </a:pPr>
            <a:r>
              <a:rPr lang="en-US" sz="1100">
                <a:solidFill>
                  <a:srgbClr val="D8CDB5"/>
                </a:solidFill>
                <a:latin typeface="Aptos"/>
              </a:rPr>
              <a:t>Consistent premium visual identity</a:t>
            </a:r>
          </a:p>
          <a:p>
            <a:pPr algn="l" lvl="0">
              <a:buChar char="-"/>
            </a:pPr>
            <a:r>
              <a:rPr lang="en-US" sz="1100">
                <a:solidFill>
                  <a:srgbClr val="D8CDB5"/>
                </a:solidFill>
                <a:latin typeface="Aptos"/>
              </a:rPr>
              <a:t>Responsive and accessible interactions</a:t>
            </a:r>
          </a:p>
          <a:p>
            <a:pPr algn="l" lvl="0">
              <a:buChar char="-"/>
            </a:pPr>
            <a:r>
              <a:rPr lang="en-US" sz="1100">
                <a:solidFill>
                  <a:srgbClr val="D8CDB5"/>
                </a:solidFill>
                <a:latin typeface="Aptos"/>
              </a:rPr>
              <a:t>Search, filter, sort, modal, and form features</a:t>
            </a:r>
          </a:p>
        </p:txBody>
      </p:sp>
      <p:sp>
        <p:nvSpPr>
          <p:cNvPr id="229" name="Shape 229"/>
          <p:cNvSpPr/>
          <p:nvPr/>
        </p:nvSpPr>
        <p:spPr>
          <a:xfrm>
            <a:off x="7973568" y="2148840"/>
            <a:ext cx="3429000" cy="2697480"/>
          </a:xfrm>
          <a:prstGeom prst="roundRect">
            <a:avLst/>
          </a:prstGeom>
          <a:solidFill>
            <a:srgbClr val="171912"/>
          </a:solidFill>
          <a:ln w="12700">
            <a:solidFill>
              <a:srgbClr val="3B3A2F"/>
            </a:solidFill>
          </a:ln>
        </p:spPr>
        <p:txBody>
          <a:bodyPr/>
          <a:lstStyle/>
          <a:p/>
        </p:txBody>
      </p:sp>
      <p:sp>
        <p:nvSpPr>
          <p:cNvPr id="230" name="Shape 230"/>
          <p:cNvSpPr/>
          <p:nvPr/>
        </p:nvSpPr>
        <p:spPr>
          <a:xfrm>
            <a:off x="8156448" y="2331720"/>
            <a:ext cx="109728" cy="109728"/>
          </a:xfrm>
          <a:prstGeom prst="ellipse">
            <a:avLst/>
          </a:prstGeom>
          <a:solidFill>
            <a:srgbClr val="7FC6B0"/>
          </a:solidFill>
          <a:ln>
            <a:noFill/>
          </a:ln>
        </p:spPr>
        <p:txBody>
          <a:bodyPr/>
          <a:lstStyle/>
          <a:p/>
        </p:txBody>
      </p:sp>
      <p:sp>
        <p:nvSpPr>
          <p:cNvPr id="231" name="TextBox 231"/>
          <p:cNvSpPr txBox="1"/>
          <p:nvPr/>
        </p:nvSpPr>
        <p:spPr>
          <a:xfrm>
            <a:off x="8357616" y="2267712"/>
            <a:ext cx="2862072" cy="365760"/>
          </a:xfrm>
          <a:prstGeom prst="rect">
            <a:avLst/>
          </a:prstGeom>
          <a:noFill/>
          <a:ln>
            <a:noFill/>
          </a:ln>
        </p:spPr>
        <p:txBody>
          <a:bodyPr lIns="0" rIns="0" tIns="0" bIns="0" wrap="square"/>
          <a:lstStyle/>
          <a:p>
            <a:pPr algn="l" lvl="0">
              <a:buNone/>
            </a:pPr>
            <a:r>
              <a:rPr lang="en-US" sz="1500" b="1">
                <a:solidFill>
                  <a:srgbClr val="F4EAD6"/>
                </a:solidFill>
                <a:latin typeface="Aptos"/>
              </a:rPr>
              <a:t>Future Improvements</a:t>
            </a:r>
          </a:p>
        </p:txBody>
      </p:sp>
      <p:sp>
        <p:nvSpPr>
          <p:cNvPr id="232" name="TextBox 232"/>
          <p:cNvSpPr txBox="1"/>
          <p:nvPr/>
        </p:nvSpPr>
        <p:spPr>
          <a:xfrm>
            <a:off x="8302752" y="2770632"/>
            <a:ext cx="2862072" cy="1874520"/>
          </a:xfrm>
          <a:prstGeom prst="rect">
            <a:avLst/>
          </a:prstGeom>
          <a:noFill/>
          <a:ln>
            <a:noFill/>
          </a:ln>
        </p:spPr>
        <p:txBody>
          <a:bodyPr lIns="0" rIns="0" tIns="0" bIns="0" wrap="square"/>
          <a:lstStyle/>
          <a:p>
            <a:pPr algn="l" lvl="0">
              <a:buChar char="-"/>
            </a:pPr>
            <a:r>
              <a:rPr lang="en-US" sz="1100">
                <a:solidFill>
                  <a:srgbClr val="D8CDB5"/>
                </a:solidFill>
                <a:latin typeface="Aptos"/>
              </a:rPr>
              <a:t>Connect to real playlist API</a:t>
            </a:r>
          </a:p>
          <a:p>
            <a:pPr algn="l" lvl="0">
              <a:buChar char="-"/>
            </a:pPr>
            <a:r>
              <a:rPr lang="en-US" sz="1100">
                <a:solidFill>
                  <a:srgbClr val="D8CDB5"/>
                </a:solidFill>
                <a:latin typeface="Aptos"/>
              </a:rPr>
              <a:t>Add user accounts or export feature</a:t>
            </a:r>
          </a:p>
          <a:p>
            <a:pPr algn="l" lvl="0">
              <a:buChar char="-"/>
            </a:pPr>
            <a:r>
              <a:rPr lang="en-US" sz="1100">
                <a:solidFill>
                  <a:srgbClr val="D8CDB5"/>
                </a:solidFill>
                <a:latin typeface="Aptos"/>
              </a:rPr>
              <a:t>Add real screenshots and analytics</a:t>
            </a:r>
          </a:p>
        </p:txBody>
      </p:sp>
      <p:sp>
        <p:nvSpPr>
          <p:cNvPr id="241" name="TextBox 241"/>
          <p:cNvSpPr txBox="1"/>
          <p:nvPr/>
        </p:nvSpPr>
        <p:spPr>
          <a:xfrm>
            <a:off x="658368" y="6446520"/>
            <a:ext cx="5669280" cy="219456"/>
          </a:xfrm>
          <a:prstGeom prst="rect">
            <a:avLst/>
          </a:prstGeom>
          <a:noFill/>
          <a:ln>
            <a:noFill/>
          </a:ln>
        </p:spPr>
        <p:txBody>
          <a:bodyPr lIns="0" rIns="0" tIns="0" bIns="0" wrap="square"/>
          <a:lstStyle/>
          <a:p>
            <a:pPr algn="l" lvl="0">
              <a:buNone/>
            </a:pPr>
            <a:r>
              <a:rPr lang="en-US" sz="800">
                <a:solidFill>
                  <a:srgbClr val="9F9787"/>
                </a:solidFill>
                <a:latin typeface="Aptos"/>
              </a:rPr>
              <a:t>Brilliant's Music Universe - UAS Web Client Development</a:t>
            </a:r>
          </a:p>
        </p:txBody>
      </p:sp>
      <p:sp>
        <p:nvSpPr>
          <p:cNvPr id="242" name="TextBox 242"/>
          <p:cNvSpPr txBox="1"/>
          <p:nvPr/>
        </p:nvSpPr>
        <p:spPr>
          <a:xfrm>
            <a:off x="11201400" y="6446520"/>
            <a:ext cx="347472" cy="219456"/>
          </a:xfrm>
          <a:prstGeom prst="rect">
            <a:avLst/>
          </a:prstGeom>
          <a:noFill/>
          <a:ln>
            <a:noFill/>
          </a:ln>
        </p:spPr>
        <p:txBody>
          <a:bodyPr lIns="0" rIns="0" tIns="0" bIns="0" wrap="square"/>
          <a:lstStyle/>
          <a:p>
            <a:pPr algn="r" lvl="0">
              <a:buNone/>
            </a:pPr>
            <a:r>
              <a:rPr lang="en-US" sz="800">
                <a:solidFill>
                  <a:srgbClr val="9F9787"/>
                </a:solidFill>
                <a:latin typeface="Apto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Shape 248"/>
          <p:cNvSpPr/>
          <p:nvPr/>
        </p:nvSpPr>
        <p:spPr>
          <a:xfrm>
            <a:off x="0" y="0"/>
            <a:ext cx="12192000" cy="6858000"/>
          </a:xfrm>
          <a:prstGeom prst="rect">
            <a:avLst/>
          </a:prstGeom>
          <a:solidFill>
            <a:srgbClr val="0D0E0B"/>
          </a:solidFill>
          <a:ln>
            <a:noFill/>
          </a:ln>
        </p:spPr>
        <p:txBody>
          <a:bodyPr/>
          <a:lstStyle/>
          <a:p/>
        </p:txBody>
      </p:sp>
      <p:sp>
        <p:nvSpPr>
          <p:cNvPr id="249" name="Shape 249"/>
          <p:cNvSpPr/>
          <p:nvPr/>
        </p:nvSpPr>
        <p:spPr>
          <a:xfrm>
            <a:off x="8549640" y="-228600"/>
            <a:ext cx="3291840" cy="2377440"/>
          </a:xfrm>
          <a:prstGeom prst="ellipse">
            <a:avLst/>
          </a:prstGeom>
          <a:solidFill>
            <a:srgbClr val="162018"/>
          </a:solidFill>
          <a:ln>
            <a:noFill/>
          </a:ln>
        </p:spPr>
        <p:txBody>
          <a:bodyPr/>
          <a:lstStyle/>
          <a:p/>
        </p:txBody>
      </p:sp>
      <p:sp>
        <p:nvSpPr>
          <p:cNvPr id="250" name="Shape 250"/>
          <p:cNvSpPr/>
          <p:nvPr/>
        </p:nvSpPr>
        <p:spPr>
          <a:xfrm>
            <a:off x="-594360" y="4663440"/>
            <a:ext cx="2926080" cy="2011680"/>
          </a:xfrm>
          <a:prstGeom prst="ellipse">
            <a:avLst/>
          </a:prstGeom>
          <a:solidFill>
            <a:srgbClr val="1B2416"/>
          </a:solidFill>
          <a:ln>
            <a:noFill/>
          </a:ln>
        </p:spPr>
        <p:txBody>
          <a:bodyPr/>
          <a:lstStyle/>
          <a:p/>
        </p:txBody>
      </p:sp>
      <p:sp>
        <p:nvSpPr>
          <p:cNvPr id="251" name="Shape 251"/>
          <p:cNvSpPr/>
          <p:nvPr/>
        </p:nvSpPr>
        <p:spPr>
          <a:xfrm>
            <a:off x="658368" y="530352"/>
            <a:ext cx="530352" cy="530352"/>
          </a:xfrm>
          <a:prstGeom prst="ellipse">
            <a:avLst/>
          </a:prstGeom>
          <a:solidFill>
            <a:srgbClr val="C7F15D"/>
          </a:solidFill>
          <a:ln>
            <a:noFill/>
          </a:ln>
        </p:spPr>
        <p:txBody>
          <a:bodyPr/>
          <a:lstStyle/>
          <a:p/>
        </p:txBody>
      </p:sp>
      <p:sp>
        <p:nvSpPr>
          <p:cNvPr id="252" name="TextBox 252"/>
          <p:cNvSpPr txBox="1"/>
          <p:nvPr/>
        </p:nvSpPr>
        <p:spPr>
          <a:xfrm>
            <a:off x="813816" y="649224"/>
            <a:ext cx="237744" cy="237744"/>
          </a:xfrm>
          <a:prstGeom prst="rect">
            <a:avLst/>
          </a:prstGeom>
          <a:noFill/>
          <a:ln>
            <a:noFill/>
          </a:ln>
        </p:spPr>
        <p:txBody>
          <a:bodyPr lIns="0" rIns="0" tIns="0" bIns="0" wrap="square"/>
          <a:lstStyle/>
          <a:p>
            <a:pPr algn="ctr" lvl="0">
              <a:buNone/>
            </a:pPr>
            <a:r>
              <a:rPr lang="en-US" sz="1300" b="1">
                <a:solidFill>
                  <a:srgbClr val="10120C"/>
                </a:solidFill>
                <a:latin typeface="Aptos"/>
              </a:rPr>
              <a:t>B</a:t>
            </a:r>
          </a:p>
        </p:txBody>
      </p:sp>
      <p:sp>
        <p:nvSpPr>
          <p:cNvPr id="253" name="Shape 253"/>
          <p:cNvSpPr/>
          <p:nvPr/>
        </p:nvSpPr>
        <p:spPr>
          <a:xfrm>
            <a:off x="713232" y="896112"/>
            <a:ext cx="2331720" cy="347472"/>
          </a:xfrm>
          <a:prstGeom prst="roundRect">
            <a:avLst/>
          </a:prstGeom>
          <a:solidFill>
            <a:srgbClr val="C7F15D"/>
          </a:solidFill>
          <a:ln>
            <a:noFill/>
          </a:ln>
        </p:spPr>
        <p:txBody>
          <a:bodyPr/>
          <a:lstStyle/>
          <a:p/>
        </p:txBody>
      </p:sp>
      <p:sp>
        <p:nvSpPr>
          <p:cNvPr id="254" name="TextBox 254"/>
          <p:cNvSpPr txBox="1"/>
          <p:nvPr/>
        </p:nvSpPr>
        <p:spPr>
          <a:xfrm>
            <a:off x="713232" y="946404"/>
            <a:ext cx="2331720" cy="228600"/>
          </a:xfrm>
          <a:prstGeom prst="rect">
            <a:avLst/>
          </a:prstGeom>
          <a:noFill/>
          <a:ln>
            <a:noFill/>
          </a:ln>
        </p:spPr>
        <p:txBody>
          <a:bodyPr lIns="0" rIns="0" tIns="0" bIns="0" wrap="square"/>
          <a:lstStyle/>
          <a:p>
            <a:pPr algn="ctr" lvl="0">
              <a:buNone/>
            </a:pPr>
            <a:r>
              <a:rPr lang="en-US" sz="1000" b="1">
                <a:solidFill>
                  <a:srgbClr val="10120C"/>
                </a:solidFill>
                <a:latin typeface="Aptos"/>
              </a:rPr>
              <a:t>THANK YOU</a:t>
            </a:r>
          </a:p>
        </p:txBody>
      </p:sp>
      <p:sp>
        <p:nvSpPr>
          <p:cNvPr id="255" name="TextBox 255"/>
          <p:cNvSpPr txBox="1"/>
          <p:nvPr/>
        </p:nvSpPr>
        <p:spPr>
          <a:xfrm>
            <a:off x="658368" y="1325880"/>
            <a:ext cx="7223760" cy="960120"/>
          </a:xfrm>
          <a:prstGeom prst="rect">
            <a:avLst/>
          </a:prstGeom>
          <a:noFill/>
          <a:ln>
            <a:noFill/>
          </a:ln>
        </p:spPr>
        <p:txBody>
          <a:bodyPr lIns="0" rIns="0" tIns="0" bIns="0" wrap="square"/>
          <a:lstStyle/>
          <a:p>
            <a:pPr algn="l" lvl="0">
              <a:buNone/>
            </a:pPr>
            <a:r>
              <a:rPr lang="en-US" sz="3100" b="1">
                <a:solidFill>
                  <a:srgbClr val="F4EAD6"/>
                </a:solidFill>
                <a:latin typeface="Georgia"/>
              </a:rPr>
              <a:t>Thank you.</a:t>
            </a:r>
          </a:p>
        </p:txBody>
      </p:sp>
      <p:sp>
        <p:nvSpPr>
          <p:cNvPr id="243" name="Shape 243"/>
          <p:cNvSpPr/>
          <p:nvPr/>
        </p:nvSpPr>
        <p:spPr>
          <a:xfrm>
            <a:off x="2176272" y="2121408"/>
            <a:ext cx="7845552" cy="2423160"/>
          </a:xfrm>
          <a:prstGeom prst="roundRect">
            <a:avLst/>
          </a:prstGeom>
          <a:solidFill>
            <a:srgbClr val="171912"/>
          </a:solidFill>
          <a:ln w="12700">
            <a:solidFill>
              <a:srgbClr val="3B3A2F"/>
            </a:solidFill>
          </a:ln>
        </p:spPr>
        <p:txBody>
          <a:bodyPr/>
          <a:lstStyle/>
          <a:p/>
        </p:txBody>
      </p:sp>
      <p:sp>
        <p:nvSpPr>
          <p:cNvPr id="244" name="TextBox 244"/>
          <p:cNvSpPr txBox="1"/>
          <p:nvPr/>
        </p:nvSpPr>
        <p:spPr>
          <a:xfrm>
            <a:off x="2651760" y="2606040"/>
            <a:ext cx="6903720" cy="594360"/>
          </a:xfrm>
          <a:prstGeom prst="rect">
            <a:avLst/>
          </a:prstGeom>
          <a:noFill/>
          <a:ln>
            <a:noFill/>
          </a:ln>
        </p:spPr>
        <p:txBody>
          <a:bodyPr lIns="0" rIns="0" tIns="0" bIns="0" wrap="square"/>
          <a:lstStyle/>
          <a:p>
            <a:pPr algn="ctr" lvl="0">
              <a:buNone/>
            </a:pPr>
            <a:r>
              <a:rPr lang="en-US" sz="3100" b="1">
                <a:solidFill>
                  <a:srgbClr val="F4EAD6"/>
                </a:solidFill>
                <a:latin typeface="Georgia"/>
              </a:rPr>
              <a:t>Brilliant's Music Universe</a:t>
            </a:r>
          </a:p>
        </p:txBody>
      </p:sp>
      <p:sp>
        <p:nvSpPr>
          <p:cNvPr id="245" name="TextBox 245"/>
          <p:cNvSpPr txBox="1"/>
          <p:nvPr/>
        </p:nvSpPr>
        <p:spPr>
          <a:xfrm>
            <a:off x="2834640" y="3337560"/>
            <a:ext cx="6537960" cy="502920"/>
          </a:xfrm>
          <a:prstGeom prst="rect">
            <a:avLst/>
          </a:prstGeom>
          <a:noFill/>
          <a:ln>
            <a:noFill/>
          </a:ln>
        </p:spPr>
        <p:txBody>
          <a:bodyPr lIns="0" rIns="0" tIns="0" bIns="0" wrap="square"/>
          <a:lstStyle/>
          <a:p>
            <a:pPr algn="ctr" lvl="0">
              <a:buNone/>
            </a:pPr>
            <a:r>
              <a:rPr lang="en-US" sz="1500">
                <a:solidFill>
                  <a:srgbClr val="D8CDB5"/>
                </a:solidFill>
                <a:latin typeface="Aptos"/>
              </a:rPr>
              <a:t>Web Client Development - UAS Project</a:t>
            </a:r>
          </a:p>
        </p:txBody>
      </p:sp>
      <p:sp>
        <p:nvSpPr>
          <p:cNvPr id="246" name="Shape 246"/>
          <p:cNvSpPr/>
          <p:nvPr/>
        </p:nvSpPr>
        <p:spPr>
          <a:xfrm>
            <a:off x="5010912" y="3950208"/>
            <a:ext cx="2176272" cy="347472"/>
          </a:xfrm>
          <a:prstGeom prst="roundRect">
            <a:avLst/>
          </a:prstGeom>
          <a:solidFill>
            <a:srgbClr val="C7F15D"/>
          </a:solidFill>
          <a:ln>
            <a:noFill/>
          </a:ln>
        </p:spPr>
        <p:txBody>
          <a:bodyPr/>
          <a:lstStyle/>
          <a:p/>
        </p:txBody>
      </p:sp>
      <p:sp>
        <p:nvSpPr>
          <p:cNvPr id="247" name="TextBox 247"/>
          <p:cNvSpPr txBox="1"/>
          <p:nvPr/>
        </p:nvSpPr>
        <p:spPr>
          <a:xfrm>
            <a:off x="5010912" y="4000500"/>
            <a:ext cx="2176272" cy="228600"/>
          </a:xfrm>
          <a:prstGeom prst="rect">
            <a:avLst/>
          </a:prstGeom>
          <a:noFill/>
          <a:ln>
            <a:noFill/>
          </a:ln>
        </p:spPr>
        <p:txBody>
          <a:bodyPr lIns="0" rIns="0" tIns="0" bIns="0" wrap="square"/>
          <a:lstStyle/>
          <a:p>
            <a:pPr algn="ctr" lvl="0">
              <a:buNone/>
            </a:pPr>
            <a:r>
              <a:rPr lang="en-US" sz="1000" b="1">
                <a:solidFill>
                  <a:srgbClr val="10120C"/>
                </a:solidFill>
                <a:latin typeface="Aptos"/>
              </a:rPr>
              <a:t>READY FOR REVIEW</a:t>
            </a:r>
          </a:p>
        </p:txBody>
      </p:sp>
      <p:sp>
        <p:nvSpPr>
          <p:cNvPr id="256" name="TextBox 256"/>
          <p:cNvSpPr txBox="1"/>
          <p:nvPr/>
        </p:nvSpPr>
        <p:spPr>
          <a:xfrm>
            <a:off x="658368" y="6446520"/>
            <a:ext cx="5669280" cy="219456"/>
          </a:xfrm>
          <a:prstGeom prst="rect">
            <a:avLst/>
          </a:prstGeom>
          <a:noFill/>
          <a:ln>
            <a:noFill/>
          </a:ln>
        </p:spPr>
        <p:txBody>
          <a:bodyPr lIns="0" rIns="0" tIns="0" bIns="0" wrap="square"/>
          <a:lstStyle/>
          <a:p>
            <a:pPr algn="l" lvl="0">
              <a:buNone/>
            </a:pPr>
            <a:r>
              <a:rPr lang="en-US" sz="800">
                <a:solidFill>
                  <a:srgbClr val="9F9787"/>
                </a:solidFill>
                <a:latin typeface="Aptos"/>
              </a:rPr>
              <a:t>Brilliant's Music Universe - UAS Web Client Development</a:t>
            </a:r>
          </a:p>
        </p:txBody>
      </p:sp>
      <p:sp>
        <p:nvSpPr>
          <p:cNvPr id="257" name="TextBox 257"/>
          <p:cNvSpPr txBox="1"/>
          <p:nvPr/>
        </p:nvSpPr>
        <p:spPr>
          <a:xfrm>
            <a:off x="11201400" y="6446520"/>
            <a:ext cx="347472" cy="219456"/>
          </a:xfrm>
          <a:prstGeom prst="rect">
            <a:avLst/>
          </a:prstGeom>
          <a:noFill/>
          <a:ln>
            <a:noFill/>
          </a:ln>
        </p:spPr>
        <p:txBody>
          <a:bodyPr lIns="0" rIns="0" tIns="0" bIns="0" wrap="square"/>
          <a:lstStyle/>
          <a:p>
            <a:pPr algn="r" lvl="0">
              <a:buNone/>
            </a:pPr>
            <a:r>
              <a:rPr lang="en-US" sz="800">
                <a:solidFill>
                  <a:srgbClr val="9F9787"/>
                </a:solidFill>
                <a:latin typeface="Aptos"/>
              </a:rPr>
              <a:t>11</a:t>
            </a:r>
          </a:p>
        </p:txBody>
      </p:sp>
    </p:spTree>
  </p:cSld>
  <p:clrMapOvr>
    <a:masterClrMapping/>
  </p:clrMapOvr>
</p:sld>
</file>

<file path=ppt/theme/theme1.xml><?xml version="1.0" encoding="utf-8"?>
<a:theme xmlns:a="http://schemas.openxmlformats.org/drawingml/2006/main" name="Brilliant Music Theme">
  <a:themeElements>
    <a:clrScheme name="Brilliant">
      <a:dk1>
        <a:srgbClr val="0D0E0B"/>
      </a:dk1>
      <a:lt1>
        <a:srgbClr val="F4EAD6"/>
      </a:lt1>
      <a:dk2>
        <a:srgbClr val="15150F"/>
      </a:dk2>
      <a:lt2>
        <a:srgbClr val="D8CDB5"/>
      </a:lt2>
      <a:accent1>
        <a:srgbClr val="C7F15D"/>
      </a:accent1>
      <a:accent2>
        <a:srgbClr val="D8AE53"/>
      </a:accent2>
      <a:accent3>
        <a:srgbClr val="7FC6B0"/>
      </a:accent3>
      <a:accent4>
        <a:srgbClr val="E67D62"/>
      </a:accent4>
      <a:accent5>
        <a:srgbClr val="9B8BC8"/>
      </a:accent5>
      <a:accent6>
        <a:srgbClr val="9F9787"/>
      </a:accent6>
      <a:hlink>
        <a:srgbClr val="C7F15D"/>
      </a:hlink>
      <a:folHlink>
        <a:srgbClr val="7FC6B0"/>
      </a:folHlink>
    </a:clrScheme>
    <a:fontScheme name="Brilliant Fonts">
      <a:majorFont>
        <a:latin typeface="Georgia"/>
      </a:majorFont>
      <a:minorFont>
        <a:latin typeface="Aptos"/>
      </a:minorFont>
    </a:fontScheme>
    <a:fmtScheme name="Brilliant Format">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Microsoft PowerPoint</Application>
  <PresentationFormat>On-screen Show (16:9)</PresentationFormat>
  <Slides>11</Slides>
  <Notes>0</Notes>
  <HiddenSlides>0</HiddenSlides>
  <MMClips>0</MMClips>
  <ScaleCrop>false</ScaleCrop>
  <HeadingPairs>
    <vt:vector size="2" baseType="variant">
      <vt:variant>
        <vt:lpstr>Slides</vt:lpstr>
      </vt:variant>
      <vt:variant>
        <vt:i4>11</vt:i4>
      </vt:variant>
    </vt:vector>
  </HeadingPairs>
  <TitlesOfParts>
    <vt:vector size="11" baseType="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Brilliant's Music Universe UAS Documentation</dc:title>
  <dc:subject>Web Client Development UAS project documentation</dc:subject>
  <dc:creator>[Student Name]</dc:creator>
  <cp:keywords>HTML CSS JavaScript localStorage responsive design UAS</cp:keywords>
  <dc:description>Editable PowerPoint documentation for the UAS website release.</dc:description>
  <cp:lastModifiedBy>Codex</cp:lastModifiedBy>
  <dcterms:created xsi:type="dcterms:W3CDTF">2026-07-07T08:18:14Z</dcterms:created>
  <dcterms:modified xsi:type="dcterms:W3CDTF">2026-07-07T08:18:14Z</dcterms:modified>
</cp:coreProperties>
</file>